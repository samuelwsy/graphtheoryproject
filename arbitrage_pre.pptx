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1" r:id="rId14"/>
    <p:sldId id="272" r:id="rId15"/>
    <p:sldId id="273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2" autoAdjust="0"/>
    <p:restoredTop sz="94692" autoAdjust="0"/>
  </p:normalViewPr>
  <p:slideViewPr>
    <p:cSldViewPr snapToGrid="0" snapToObjects="1">
      <p:cViewPr>
        <p:scale>
          <a:sx n="113" d="100"/>
          <a:sy n="113" d="100"/>
        </p:scale>
        <p:origin x="1616" y="8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开场先强调：我们不只是做“有没有套利”的判断，而是做“最高收益简单套利回路”的搜索。这个定位会自然引出后面的复杂度问题。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这里可以说：SPFA 是非常自然的基础，但它通常返回被检测到的某个负环，并不保证收益最大。所以我们用 DFS 作为小规模精确基准，再用剪枝解决大规模不可计算的问题。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这一页把问题收束成一句话：不是随便删点删边，而是在尽量保留套利环结构的前提下压缩图。后面自然进入整体框架图。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这一页是全局路线图。口播可以很短：矩阵方法只负责定位高潜力区域，真正的回路搜索仍然由 DFS 完成。我们的贡献在于把 DFS 从大图移到小图。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这页展示“高级感”的公式核心。讲的时候只说：无套利意味着秩一，偏离秩一的残差就是异常信号。Sinkhorn 是为了避免不同货币面值尺度影响 SVD。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这页的直觉是：无套利市场像一个“势能场”，边权只是两个点的势能差；闭合环中势能差抵消，剩下的残差才是真正产生套利的部分。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这一页适合把两个算法并排讲清楚。可以说：它们不是重复方法，而是两个互补视角，一个偏矩阵主成分，一个偏图上的势能投影。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这是最关键的工程与图论创新。讲的时候强调：套利回路是一个整体，不能只看单条边。所以我们剪的是节点集合，不是直接剪边。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这一页讲实验口径。小规模有真实最优，所以看 method/base；大规模没有真实最优，所以用理论基准。Trap 的意义是测试算法能否保留带微亏过桥边的完整套利结构。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这页公式可以不用完整推导。重点说：大规模没法知道真实最优，所以用随机模型估计理论上最优环大概能达到什么水平。这样算法结果不只是孤立的收益数字。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这一页只讲时间。N=10 的全图 DFS 已经 1.37 秒，而剪枝后能到毫秒级；更大规模下，全图 DFS 只能做外推，剪枝算法仍可实际运行。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这一页讲质量。Trap=True 表示套利信号集中，因此热点节点方法效果更好；Trap=False 时最优环分散，但仍能在极小子图中找到较高收益候选。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这一页把实验现象和复杂度公式连起来。我们不是让 DFS 更聪明，而是把 DFS 的输入规模从 N 降到了 6 或 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最后收束到一句话：矩阵方法不是替代图论，而是帮助图论算法快速定位值得搜索的区域。这样既保留了回路搜索的精确性，也解决了大规模复杂度问题。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基于矩阵剪枝与图搜索的套利回路研究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3 分钟 Pre：创新方法、公式框架与实验结论</a:t>
            </a:r>
            <a:br/>
            <a:br/>
            <a:r>
              <a:t>课程项目展示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研究问题：从“检测套利”到“寻找最高收益回路”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套利回路定义</a:t>
            </a:r>
          </a:p>
          <a:p>
            <a:pPr marL="0" lvl="0" indent="0">
              <a:buNone/>
            </a:pPr>
            <a:r>
              <a:t>给定汇率矩阵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𝑅</m:t>
                </m:r>
                <m:r>
                  <a:rPr>
                    <a:latin typeface="Cambria Math" panose="02040503050406030204" pitchFamily="18" charset="0"/>
                  </a:rPr>
                  <m:t>=(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𝑖𝑗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，一条简单闭合路径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=(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→⋯→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的总兑换倍率为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𝑅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nary>
                    <m:naryPr>
                      <m:chr m:val="∏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当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𝑅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)&gt;1,  </m:t>
                  </m:r>
                  <m:r>
                    <a:rPr>
                      <a:latin typeface="Cambria Math" panose="02040503050406030204" pitchFamily="18" charset="0"/>
                    </a:rPr>
                    <m:t>𝑃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r>
                    <a:rPr>
                      <a:latin typeface="Cambria Math" panose="02040503050406030204" pitchFamily="18" charset="0"/>
                    </a:rPr>
                    <m:t>𝑅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)−1&gt;0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时，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𝐶</m:t>
                </m:r>
              </m:oMath>
            </a14:m>
            <a:r>
              <a:t> 是套利回路。</a:t>
            </a:r>
          </a:p>
          <a:p>
            <a:pPr marL="0" lvl="0" indent="0">
              <a:buNone/>
            </a:pPr>
            <a:r>
              <a:rPr b="1"/>
              <a:t>本项目目标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⋆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arg</m:t>
                  </m:r>
                  <m:limLow>
                    <m:limLow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</m:e>
                    <m:lim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𝒮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lim>
                  </m:limLow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nary>
                        <m:naryPr>
                          <m:chr m:val="∏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e>
                  </m:d>
                </m:oMath>
              </m:oMathPara>
            </a14:m>
            <a:endParaRPr b="1"/>
          </a:p>
          <a:p>
            <a:pPr marL="0" lvl="0" indent="0">
              <a:buNone/>
            </a:pPr>
            <a:r>
              <a:t>其中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𝒮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𝐺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是图中全部简单有向回路集合。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图论基础：对数变换与负环等价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乘法收益可以转化为加法权重：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𝑀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log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𝑤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=−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log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于是套利条件等价于：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nary>
                    <m:naryPr>
                      <m:chr m:val="∏"/>
                      <m:limLoc m:val="undOvr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&gt;1⇔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</m:e>
                  </m:nary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&gt;0⇔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&lt;0.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因此：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nor/>
                    </m:rPr>
                    <a:rPr/>
                    <m:t>套利回路</m:t>
                  </m:r>
                  <m:r>
                    <a:rPr>
                      <a:latin typeface="Cambria Math" panose="02040503050406030204" pitchFamily="18" charset="0"/>
                    </a:rPr>
                    <m:t>⇔</m:t>
                  </m:r>
                  <m:r>
                    <m:rPr>
                      <m:nor/>
                    </m:rPr>
                    <a:rPr/>
                    <m:t>负权有向环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但 Bellman-Ford / SPFA 主要解决的是：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∃</m:t>
                  </m:r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, 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&lt;0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而本项目需要的是：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limLow>
                    <m:limLow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</m:e>
                    <m:lim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lim>
                  </m:limLow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复杂度结论：必须把大图压缩成小图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全图搜索</a:t>
            </a:r>
            <a:r>
              <a:rPr dirty="0"/>
              <a:t>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=(</m:t>
                  </m:r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𝐸</m:t>
                  </m:r>
                  <m:r>
                    <a:rPr>
                      <a:latin typeface="Cambria Math" panose="02040503050406030204" pitchFamily="18" charset="0"/>
                    </a:rPr>
                    <m:t>),  |</m:t>
                  </m:r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r>
                    <a:rPr>
                      <a:latin typeface="Cambria Math" panose="02040503050406030204" pitchFamily="18" charset="0"/>
                    </a:rPr>
                    <m:t>|=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 err="1"/>
              <a:t>剪枝后搜索</a:t>
            </a:r>
            <a:r>
              <a:rPr dirty="0"/>
              <a:t>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𝐺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],  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⊆</m:t>
                  </m:r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r>
                    <a:rPr>
                      <a:latin typeface="Cambria Math" panose="02040503050406030204" pitchFamily="18" charset="0"/>
                    </a:rPr>
                    <m:t>,  |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|=</m:t>
                  </m:r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 err="1"/>
              <a:t>我们希望</a:t>
            </a:r>
            <a:r>
              <a:rPr dirty="0"/>
              <a:t>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≪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∈{6,8}.</m:t>
                  </m:r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 err="1"/>
              <a:t>核心问题变成</a:t>
            </a:r>
            <a:r>
              <a:rPr dirty="0"/>
              <a:t>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borderBox>
                    <m:borderBox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borderBoxPr>
                    <m:e>
                      <m:r>
                        <m:rPr>
                          <m:nor/>
                        </m:rPr>
                        <a:rPr/>
                        <m:t>如何在不破坏套利环结构的前提下，把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r>
                        <m:rPr>
                          <m:nor/>
                        </m:rPr>
                        <a:rPr/>
                        <m:t> 降到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?</m:t>
                      </m:r>
                    </m:e>
                  </m:borderBox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 err="1"/>
              <a:t>对应策略</a:t>
            </a:r>
            <a:r>
              <a:rPr dirty="0"/>
              <a:t>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nor/>
                    </m:rPr>
                    <a:rPr/>
                    <m:t>Residual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Ranking</m:t>
                  </m:r>
                  <m:r>
                    <a:rPr>
                      <a:latin typeface="Cambria Math" panose="02040503050406030204" pitchFamily="18" charset="0"/>
                    </a:rPr>
                    <m:t>→</m:t>
                  </m:r>
                  <m:r>
                    <m:rPr>
                      <m:nor/>
                    </m:rPr>
                    <a:rPr/>
                    <m:t>Hot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Nodes</m:t>
                  </m:r>
                  <m:r>
                    <a:rPr>
                      <a:latin typeface="Cambria Math" panose="02040503050406030204" pitchFamily="18" charset="0"/>
                    </a:rPr>
                    <m:t>→</m:t>
                  </m:r>
                  <m:r>
                    <m:rPr>
                      <m:nor/>
                    </m:rPr>
                    <a:rPr/>
                    <m:t>Induced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Subgraph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整体框架：矩阵预处理 + 诱导子图 + DFS</a:t>
            </a:r>
          </a:p>
        </p:txBody>
      </p:sp>
      <p:pic>
        <p:nvPicPr>
          <p:cNvPr id="4" name="Picture 1" descr="presentation_assets/overall_pipeline.svg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整体算法管线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核心框架：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sub>
                  </m:sSub>
                  <m:limUpp>
                    <m:limUp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UppPr>
                    <m:e>
                      <m:r>
                        <a:rPr>
                          <a:latin typeface="Cambria Math" panose="02040503050406030204" pitchFamily="18" charset="0"/>
                        </a:rPr>
                        <m:t>→</m:t>
                      </m:r>
                    </m:e>
                    <m:lim>
                      <m:r>
                        <m:rPr>
                          <m:nor/>
                        </m:rPr>
                        <a:rPr/>
                        <m:t>Matrix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Residual</m:t>
                      </m:r>
                    </m:lim>
                  </m:limUpp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limUpp>
                    <m:limUp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UppPr>
                    <m:e>
                      <m:r>
                        <a:rPr>
                          <a:latin typeface="Cambria Math" panose="02040503050406030204" pitchFamily="18" charset="0"/>
                        </a:rPr>
                        <m:t>→</m:t>
                      </m:r>
                    </m:e>
                    <m:lim>
                      <m:r>
                        <m:rPr>
                          <m:nor/>
                        </m:rPr>
                        <a:rPr/>
                        <m:t>Induced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Subgraph</m:t>
                      </m:r>
                    </m:lim>
                  </m:limUpp>
                  <m:r>
                    <a:rPr>
                      <a:latin typeface="Cambria Math" panose="02040503050406030204" pitchFamily="18" charset="0"/>
                    </a:rPr>
                    <m:t>𝐺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]</m:t>
                  </m:r>
                  <m:limUpp>
                    <m:limUp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UppPr>
                    <m:e>
                      <m:r>
                        <a:rPr>
                          <a:latin typeface="Cambria Math" panose="02040503050406030204" pitchFamily="18" charset="0"/>
                        </a:rPr>
                        <m:t>→</m:t>
                      </m:r>
                    </m:e>
                    <m:lim>
                      <m:r>
                        <m:rPr>
                          <m:nor/>
                        </m:rPr>
                        <a:rPr/>
                        <m:t>DFS</m:t>
                      </m:r>
                    </m:lim>
                  </m:limUpp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⋆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其中：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≪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∈{6,8}.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创新一：SVD + Sinkhorn 的秩一残差剪枝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在理想无套利市场中，存在基准价值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，使得：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因此汇率矩阵可写成外积形式：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𝑅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begChr m:val="["/>
                      <m:endChr m:val="]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1/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1/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1/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d>
                    <m:dPr>
                      <m:begChr m:val="["/>
                      <m:endChr m:val="]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⋯</m:t>
                            </m:r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rank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𝑅</m:t>
                  </m:r>
                  <m:r>
                    <a:rPr>
                      <a:latin typeface="Cambria Math" panose="02040503050406030204" pitchFamily="18" charset="0"/>
                    </a:rPr>
                    <m:t>)=1.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先做 Sinkhorn 平衡化：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acc>
                    <m:accPr>
                      <m:chr m:val="̃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</m:acc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𝑅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acc>
                    <m:accPr>
                      <m:chr m:val="̃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</m:acc>
                  <m:r>
                    <a:rPr>
                      <a:latin typeface="Cambria Math" panose="02040503050406030204" pitchFamily="18" charset="0"/>
                    </a:rPr>
                    <m:t>𝟏</m:t>
                  </m:r>
                  <m:r>
                    <a:rPr>
                      <a:latin typeface="Cambria Math" panose="02040503050406030204" pitchFamily="18" charset="0"/>
                    </a:rPr>
                    <m:t>≈</m:t>
                  </m:r>
                  <m:r>
                    <a:rPr>
                      <a:latin typeface="Cambria Math" panose="02040503050406030204" pitchFamily="18" charset="0"/>
                    </a:rPr>
                    <m:t>𝟏</m:t>
                  </m:r>
                  <m:r>
                    <a:rPr>
                      <a:latin typeface="Cambria Math" panose="02040503050406030204" pitchFamily="18" charset="0"/>
                    </a:rPr>
                    <m:t>, 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acc>
                        <m:accPr>
                          <m:chr m:val="̃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𝟏</m:t>
                  </m:r>
                  <m:r>
                    <a:rPr>
                      <a:latin typeface="Cambria Math" panose="02040503050406030204" pitchFamily="18" charset="0"/>
                    </a:rPr>
                    <m:t>≈</m:t>
                  </m:r>
                  <m:r>
                    <a:rPr>
                      <a:latin typeface="Cambria Math" panose="02040503050406030204" pitchFamily="18" charset="0"/>
                    </a:rPr>
                    <m:t>𝟏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再做秩一近似：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acc>
                    <m:accPr>
                      <m:chr m:val="̃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</m:acc>
                  <m:r>
                    <a:rPr>
                      <a:latin typeface="Cambria Math" panose="02040503050406030204" pitchFamily="18" charset="0"/>
                    </a:rPr>
                    <m:t>≈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𝑢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Δ</m:t>
                  </m:r>
                  <m:r>
                    <a:rPr>
                      <a:latin typeface="Cambria Math" panose="02040503050406030204" pitchFamily="18" charset="0"/>
                    </a:rPr>
                    <m:t>𝑅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acc>
                    <m:accPr>
                      <m:chr m:val="̃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</m:acc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𝑢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𝑣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剪枝信号：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Sup>
                    <m:sSub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  <m:sup>
                      <m:r>
                        <m:rPr>
                          <m:nor/>
                        </m:rPr>
                        <a:rPr/>
                        <m:t>SVD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=|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Δ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|.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创新二：Lap 对数势能残差剪枝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取对数：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𝑀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log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若市场无套利，则存在顶点势能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>
                    <a:latin typeface="Cambria Math" panose="02040503050406030204" pitchFamily="18" charset="0"/>
                  </a:rPr>
                  <m:t>log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，使：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沿任意闭合回路求和，势能差会抵消：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nary>
                    <m:naryPr>
                      <m:chr m:val="∑"/>
                      <m:limLoc m:val="undOvr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</m:e>
                  </m:nary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)=0.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因此套利只来自残差：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𝑀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−(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用最小二乘估计势能场：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limLow>
                    <m:limLow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min</m:t>
                      </m:r>
                    </m:e>
                    <m:lim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lim>
                  </m:limLow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sup>
                    <m:e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e>
                  </m:nary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=0.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完全图下可得解析解：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den>
                  </m:f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剪枝信号：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Sup>
                    <m:sSub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  <m:sup>
                      <m:r>
                        <m:rPr>
                          <m:nor/>
                        </m:rPr>
                        <a:rPr/>
                        <m:t>Lap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两条矩阵路线对比</a:t>
            </a:r>
          </a:p>
        </p:txBody>
      </p:sp>
      <p:pic>
        <p:nvPicPr>
          <p:cNvPr id="4" name="Picture 1" descr="presentation_assets/matrix_routes.svg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SVD 与 Lap 两条矩阵剪枝路线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 err="1"/>
                  <a:t>两种方法的共同形式</a:t>
                </a:r>
                <a:r>
                  <a:rPr dirty="0"/>
                  <a:t>：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/>
                        <m:t>Observed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Matrix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/>
                        <m:t>No</m:t>
                      </m:r>
                      <m:r>
                        <m:rPr>
                          <m:nor/>
                        </m:rPr>
                        <a:rPr/>
                        <m:t>−</m:t>
                      </m:r>
                      <m:r>
                        <m:rPr>
                          <m:nor/>
                        </m:rPr>
                        <a:rPr/>
                        <m:t>Arbitrage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Structure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/>
                        <m:t>Residual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具体对应</a:t>
                </a:r>
                <a:r>
                  <a:rPr dirty="0"/>
                  <a:t>：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b="1" dirty="0" err="1"/>
                  <a:t>解释</a:t>
                </a:r>
                <a:endParaRPr b="1" dirty="0"/>
              </a:p>
              <a:p>
                <a:pPr lvl="0"/>
                <a:r>
                  <a:rPr dirty="0" err="1"/>
                  <a:t>SVD：从原始汇率矩阵的秩一结构出发</a:t>
                </a:r>
                <a:endParaRPr dirty="0"/>
              </a:p>
              <a:p>
                <a:pPr lvl="0"/>
                <a:r>
                  <a:rPr dirty="0" err="1"/>
                  <a:t>Lap：从对数汇率矩阵的势能差结构出发</a:t>
                </a:r>
                <a:endParaRPr dirty="0"/>
              </a:p>
              <a:p>
                <a:pPr lvl="0"/>
                <a:r>
                  <a:rPr dirty="0" err="1"/>
                  <a:t>二者都把“偏离无套利结构”作为候选套利信号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0" t="-2239" b="-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创新三：从边剪枝改为热点节点诱导子图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如果只保留高残差边：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TopK</m:t>
                  </m:r>
                  <m:r>
                    <a:rPr>
                      <a:latin typeface="Cambria Math" panose="02040503050406030204" pitchFamily="18" charset="0"/>
                    </a:rPr>
                    <m:t>{(</m:t>
                  </m:r>
                  <m:r>
                    <a:rPr>
                      <a:latin typeface="Cambria Math" panose="02040503050406030204" pitchFamily="18" charset="0"/>
                    </a:rPr>
                    <m:t>𝑖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𝑗</m:t>
                  </m:r>
                  <m:r>
                    <a:rPr>
                      <a:latin typeface="Cambria Math" panose="02040503050406030204" pitchFamily="18" charset="0"/>
                    </a:rPr>
                    <m:t>):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large</m:t>
                  </m:r>
                  <m:r>
                    <a:rPr>
                      <a:latin typeface="Cambria Math" panose="02040503050406030204" pitchFamily="18" charset="0"/>
                    </a:rPr>
                    <m:t>},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可能出现问题：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=(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𝑒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𝑒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,…,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𝑒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), 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ℓ=1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&gt;0,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但某些边满足：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&lt;0.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也就是说，套利环整体收益为正，但局部可能包含“微亏过桥边”。直接删边会断环。</a:t>
            </a:r>
          </a:p>
          <a:p>
            <a:pPr marL="0" lvl="0" indent="0">
              <a:buNone/>
            </a:pPr>
            <a:r>
              <a:t>本项目采用热点节点诱导子图：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TopNodes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{(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):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large</m:t>
                      </m:r>
                      <m:r>
                        <a:rPr>
                          <a:latin typeface="Cambria Math" panose="02040503050406030204" pitchFamily="18" charset="0"/>
                        </a:rPr>
                        <m:t>}</m:t>
                      </m:r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𝐺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]=(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,{(</m:t>
                  </m:r>
                  <m:r>
                    <a:rPr>
                      <a:latin typeface="Cambria Math" panose="02040503050406030204" pitchFamily="18" charset="0"/>
                    </a:rPr>
                    <m:t>𝑖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𝑗</m:t>
                  </m:r>
                  <m:r>
                    <a:rPr>
                      <a:latin typeface="Cambria Math" panose="02040503050406030204" pitchFamily="18" charset="0"/>
                    </a:rPr>
                    <m:t>)∈</m:t>
                  </m:r>
                  <m:r>
                    <a:rPr>
                      <a:latin typeface="Cambria Math" panose="02040503050406030204" pitchFamily="18" charset="0"/>
                    </a:rPr>
                    <m:t>𝐸</m:t>
                  </m:r>
                  <m:r>
                    <a:rPr>
                      <a:latin typeface="Cambria Math" panose="02040503050406030204" pitchFamily="18" charset="0"/>
                    </a:rPr>
                    <m:t>:</m:t>
                  </m:r>
                  <m:r>
                    <a:rPr>
                      <a:latin typeface="Cambria Math" panose="02040503050406030204" pitchFamily="18" charset="0"/>
                    </a:rPr>
                    <m:t>𝑖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𝑗</m:t>
                  </m:r>
                  <m:r>
                    <a:rPr>
                      <a:latin typeface="Cambria Math" panose="02040503050406030204" pitchFamily="18" charset="0"/>
                    </a:rPr>
                    <m:t>∈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}).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保留性质：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⊆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⇒</m:t>
                  </m:r>
                  <m:r>
                    <a:rPr>
                      <a:latin typeface="Cambria Math" panose="02040503050406030204" pitchFamily="18" charset="0"/>
                    </a:rPr>
                    <m:t>𝐶</m:t>
                  </m:r>
                  <m:r>
                    <a:rPr>
                      <a:latin typeface="Cambria Math" panose="02040503050406030204" pitchFamily="18" charset="0"/>
                    </a:rPr>
                    <m:t>⊆</m:t>
                  </m:r>
                  <m:r>
                    <a:rPr>
                      <a:latin typeface="Cambria Math" panose="02040503050406030204" pitchFamily="18" charset="0"/>
                    </a:rPr>
                    <m:t>𝐺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].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实验设计：小规模真值 + 大规模理论基准</a:t>
            </a:r>
          </a:p>
        </p:txBody>
      </p:sp>
      <p:pic>
        <p:nvPicPr>
          <p:cNvPr id="4" name="Picture 1" descr="presentation_assets/evaluation_pipeline.svg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实验评价流程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实验 A：小规模精确对比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∈{8,10},  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𝜌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small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method</m:t>
                          </m:r>
                        </m:sub>
                      </m:sSub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base</m:t>
                          </m:r>
                        </m:sub>
                      </m:sSub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实验 B：大规模理论对比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∈{50,100,200},  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𝜌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large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method</m:t>
                          </m:r>
                        </m:sub>
                      </m:sSub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theory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Trap 结构：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23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×1.04,  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30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×0.98.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其基础乘积为：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1.04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3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×0.98−1≈10.24%.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理论基准：随机极值估计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普通边噪声模型：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𝑞</m:t>
                  </m:r>
                  <m:r>
                    <a:rPr>
                      <a:latin typeface="Cambria Math" panose="02040503050406030204" pitchFamily="18" charset="0"/>
                    </a:rPr>
                    <m:t>=1+</m:t>
                  </m:r>
                  <m:r>
                    <a:rPr>
                      <a:latin typeface="Cambria Math" panose="02040503050406030204" pitchFamily="18" charset="0"/>
                    </a:rPr>
                    <m:t>𝜖</m:t>
                  </m:r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r>
                    <a:rPr>
                      <a:latin typeface="Cambria Math" panose="02040503050406030204" pitchFamily="18" charset="0"/>
                    </a:rPr>
                    <m:t>𝜖</m:t>
                  </m:r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𝑈</m:t>
                  </m:r>
                  <m:r>
                    <a:rPr>
                      <a:latin typeface="Cambria Math" panose="02040503050406030204" pitchFamily="18" charset="0"/>
                    </a:rPr>
                    <m:t>(−</m:t>
                  </m:r>
                  <m:r>
                    <a:rPr>
                      <a:latin typeface="Cambria Math" panose="02040503050406030204" pitchFamily="18" charset="0"/>
                    </a:rPr>
                    <m:t>𝛿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𝛿</m:t>
                  </m:r>
                  <m:r>
                    <a:rPr>
                      <a:latin typeface="Cambria Math" panose="02040503050406030204" pitchFamily="18" charset="0"/>
                    </a:rPr>
                    <m:t>).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长度为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𝐿</m:t>
                </m:r>
              </m:oMath>
            </a14:m>
            <a:r>
              <a:t> 的随机环对数收益：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ℓ=1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sup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</m:e>
                  </m:nary>
                  <m:r>
                    <a:rPr>
                      <a:latin typeface="Cambria Math" panose="02040503050406030204" pitchFamily="18" charset="0"/>
                    </a:rPr>
                    <m:t>(1+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𝜖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ℓ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近似：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≈</m:t>
                  </m:r>
                  <m:r>
                    <a:rPr>
                      <a:latin typeface="Cambria Math" panose="02040503050406030204" pitchFamily="18" charset="0"/>
                    </a:rPr>
                    <m:t>𝒩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e>
                  </m:d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长度为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𝐿</m:t>
                </m:r>
              </m:oMath>
            </a14:m>
            <a:r>
              <a:t> 的候选环数量：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𝑀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>
                          <a:latin typeface="Cambria Math" panose="02040503050406030204" pitchFamily="18" charset="0"/>
                        </a:rPr>
                        <m:t>!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>
                          <a:latin typeface="Cambria Math" panose="02040503050406030204" pitchFamily="18" charset="0"/>
                        </a:rPr>
                        <m:t>)!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极值估计：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𝔼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max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]≈</m:t>
                  </m:r>
                  <m:r>
                    <a:rPr>
                      <a:latin typeface="Cambria Math" panose="02040503050406030204" pitchFamily="18" charset="0"/>
                    </a:rPr>
                    <m:t>𝐿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𝛿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</m:e>
                  </m:rad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𝛿</m:t>
                      </m:r>
                    </m:sub>
                  </m:sSub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e>
                  </m:rad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理论收益参考：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theory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exp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2≤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]</m:t>
                      </m:r>
                    </m:e>
                  </m:d>
                  <m:r>
                    <a:rPr>
                      <a:latin typeface="Cambria Math" panose="02040503050406030204" pitchFamily="18" charset="0"/>
                    </a:rPr>
                    <m:t>−1.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实验结果一补充：时间优势来自输入规模压缩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时间对比的核心是：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pruned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)≪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full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),  </m:t>
                  </m:r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∈{6,8}≪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实验结果二补充：两种收益评价口径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收益评价口径：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𝜌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small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method</m:t>
                          </m:r>
                        </m:sub>
                      </m:sSub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base</m:t>
                          </m:r>
                        </m:sub>
                      </m:sSub>
                    </m:den>
                  </m:f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𝜌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large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method</m:t>
                          </m:r>
                        </m:sub>
                      </m:sSub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theory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实验结果三：规模压缩解释了速度提升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规模压缩带来的搜索收益：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full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)∼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>
                          <a:latin typeface="Cambria Math" panose="02040503050406030204" pitchFamily="18" charset="0"/>
                        </a:rPr>
                        <m:t>=2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sup>
                    <m:e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)!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e>
                  </m:nary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pruned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)∼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>
                          <a:latin typeface="Cambria Math" panose="02040503050406030204" pitchFamily="18" charset="0"/>
                        </a:rPr>
                        <m:t>=2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p>
                    <m:e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)!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e>
                  </m:nary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∈{6,8}≪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因此：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pruned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full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→0 (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m:rPr>
                      <m:nor/>
                    </m:rPr>
                    <a:rPr/>
                    <m:t> 增大时</m:t>
                  </m:r>
                  <m:r>
                    <a:rPr>
                      <a:latin typeface="Cambria Math" panose="02040503050406030204" pitchFamily="18" charset="0"/>
                    </a:rPr>
                    <m:t>).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结论：矩阵方法帮助图搜索找到“值得精确搜索的局部”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本项目形成完整框架：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borderBox>
                    <m:borderBox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borderBoxPr>
                    <m:e>
                      <m:r>
                        <m:rPr>
                          <m:nor/>
                        </m:rPr>
                        <a:rPr/>
                        <m:t>矩阵残差定位</m:t>
                      </m:r>
                      <m:r>
                        <a:rPr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/>
                        <m:t>热点节点诱导子图</m:t>
                      </m:r>
                      <m:r>
                        <a:rPr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/>
                        <m:t>DFS</m:t>
                      </m:r>
                      <m:r>
                        <m:rPr>
                          <m:nor/>
                        </m:rPr>
                        <a:rPr/>
                        <m:t> 精确搜索</m:t>
                      </m:r>
                    </m:e>
                  </m:borderBox>
                </m:oMath>
              </m:oMathPara>
            </a14:m>
            <a:endParaRPr/>
          </a:p>
          <a:p>
            <a:pPr marL="0" lvl="0" indent="0">
              <a:buNone/>
            </a:pPr>
            <a:r>
              <a:t>创新性成果：</a:t>
            </a:r>
          </a:p>
          <a:p>
            <a:pPr marL="342900" lvl="0" indent="-342900">
              <a:buAutoNum type="arabicPeriod"/>
            </a:pPr>
            <a:r>
              <a:t>从“套利存在性检测”推进到“最高收益简单回路搜索”</a:t>
            </a:r>
          </a:p>
          <a:p>
            <a:pPr marL="342900" lvl="0" indent="-342900">
              <a:buAutoNum type="arabicPeriod"/>
            </a:pPr>
            <a:r>
              <a:t>提出 SVD + Sinkhorn 秩一残差剪枝</a:t>
            </a:r>
          </a:p>
          <a:p>
            <a:pPr marL="342900" lvl="0" indent="-342900">
              <a:buAutoNum type="arabicPeriod"/>
            </a:pPr>
            <a:r>
              <a:t>提出 Lap 对数势能残差剪枝</a:t>
            </a:r>
          </a:p>
          <a:p>
            <a:pPr marL="342900" lvl="0" indent="-342900">
              <a:buAutoNum type="arabicPeriod"/>
            </a:pPr>
            <a:r>
              <a:t>用热点节点诱导子图解决边剪枝断环问题</a:t>
            </a:r>
          </a:p>
          <a:p>
            <a:pPr marL="342900" lvl="0" indent="-342900">
              <a:buAutoNum type="arabicPeriod"/>
            </a:pPr>
            <a:r>
              <a:t>用随机极值理论评价大规模不可计算场景</a:t>
            </a:r>
          </a:p>
          <a:p>
            <a:pPr marL="0" lvl="0" indent="0">
              <a:buNone/>
            </a:pPr>
            <a:r>
              <a:t>一句话总结：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nor/>
                    </m:rPr>
                    <a:rPr/>
                    <m:t>Full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Graph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Impossible</m:t>
                  </m:r>
                  <m:r>
                    <a:rPr>
                      <a:latin typeface="Cambria Math" panose="02040503050406030204" pitchFamily="18" charset="0"/>
                    </a:rPr>
                    <m:t> ⇒ </m:t>
                  </m:r>
                  <m:r>
                    <m:rPr>
                      <m:nor/>
                    </m:rPr>
                    <a:rPr/>
                    <m:t>Matrix</m:t>
                  </m:r>
                  <m:r>
                    <m:rPr>
                      <m:nor/>
                    </m:rPr>
                    <a:rPr/>
                    <m:t>−</m:t>
                  </m:r>
                  <m:r>
                    <m:rPr>
                      <m:nor/>
                    </m:rPr>
                    <a:rPr/>
                    <m:t>Pruned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Subgraph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Search</m:t>
                  </m:r>
                  <m:r>
                    <m:rPr>
                      <m:nor/>
                    </m:rPr>
                    <a:rPr/>
                    <m:t> </m:t>
                  </m:r>
                  <m:r>
                    <m:rPr>
                      <m:nor/>
                    </m:rPr>
                    <a:rPr/>
                    <m:t>Feasible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</Words>
  <Application>Microsoft Macintosh PowerPoint</Application>
  <PresentationFormat>全屏显示(16:9)</PresentationFormat>
  <Paragraphs>167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基于矩阵剪枝与图搜索的套利回路研究</vt:lpstr>
      <vt:lpstr>研究问题：从“检测套利”到“寻找最高收益回路”</vt:lpstr>
      <vt:lpstr>图论基础：对数变换与负环等价</vt:lpstr>
      <vt:lpstr>复杂度结论：必须把大图压缩成小图</vt:lpstr>
      <vt:lpstr>整体框架：矩阵预处理 + 诱导子图 + DFS</vt:lpstr>
      <vt:lpstr>创新一：SVD + Sinkhorn 的秩一残差剪枝</vt:lpstr>
      <vt:lpstr>创新二：Lap 对数势能残差剪枝</vt:lpstr>
      <vt:lpstr>两条矩阵路线对比</vt:lpstr>
      <vt:lpstr>创新三：从边剪枝改为热点节点诱导子图</vt:lpstr>
      <vt:lpstr>实验设计：小规模真值 + 大规模理论基准</vt:lpstr>
      <vt:lpstr>理论基准：随机极值估计</vt:lpstr>
      <vt:lpstr>实验结果一补充：时间优势来自输入规模压缩</vt:lpstr>
      <vt:lpstr>实验结果二补充：两种收益评价口径</vt:lpstr>
      <vt:lpstr>实验结果三：规模压缩解释了速度提升</vt:lpstr>
      <vt:lpstr>结论：矩阵方法帮助图搜索找到“值得精确搜索的局部”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基于矩阵剪枝与图搜索的套利回路研究</dc:title>
  <dc:creator>课程项目展示</dc:creator>
  <cp:keywords/>
  <cp:lastModifiedBy>汪思延</cp:lastModifiedBy>
  <cp:revision>1</cp:revision>
  <dcterms:created xsi:type="dcterms:W3CDTF">2026-06-10T12:52:05Z</dcterms:created>
  <dcterms:modified xsi:type="dcterms:W3CDTF">2026-06-10T12:54:48Z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2026-06-11</vt:lpwstr>
  </property>
  <property fmtid="{D5CDD505-2E9C-101B-9397-08002B2CF9AE}" pid="3" name="slide-level">
    <vt:lpwstr>2</vt:lpwstr>
  </property>
  <property fmtid="{D5CDD505-2E9C-101B-9397-08002B2CF9AE}" pid="4" name="subtitle">
    <vt:lpwstr>3 分钟 Pre：创新方法、公式框架与实验结论</vt:lpwstr>
  </property>
</Properties>
</file>