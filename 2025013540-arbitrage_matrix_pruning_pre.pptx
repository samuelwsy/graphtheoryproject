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E5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92"/>
    <p:restoredTop sz="94692"/>
  </p:normalViewPr>
  <p:slideViewPr>
    <p:cSldViewPr snapToGrid="0">
      <p:cViewPr varScale="1">
        <p:scale>
          <a:sx n="109" d="100"/>
          <a:sy n="109" d="100"/>
        </p:scale>
        <p:origin x="20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2E0499C-654B-457A-B8B9-BC77FD6DE39C}"/>
              </a:ext>
            </a:extLst>
          </p:cNvPr>
          <p:cNvSpPr>
            <a:spLocks noGrp="1"/>
          </p:cNvSpPr>
          <p:nvPr/>
        </p:nvSpPr>
        <p:spPr>
          <a:xfrm>
            <a:off x="785562" y="864269"/>
            <a:ext cx="10025814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1" dirty="0" err="1">
                <a:solidFill>
                  <a:srgbClr val="0F172A"/>
                </a:solidFill>
                <a:latin typeface="Aptos Display"/>
                <a:ea typeface="SimHei" panose="02010609060101010101" pitchFamily="49" charset="-122"/>
                <a:cs typeface="Aptos Display"/>
              </a:rPr>
              <a:t>基于矩阵剪枝与图搜索的套利回路研究</a:t>
            </a:r>
            <a:endParaRPr sz="4400" b="1" dirty="0">
              <a:solidFill>
                <a:srgbClr val="0F172A"/>
              </a:solidFill>
              <a:latin typeface="Aptos Display"/>
              <a:ea typeface="SimHei" panose="02010609060101010101" pitchFamily="49" charset="-122"/>
              <a:cs typeface="Aptos Display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5AEE94-4EEF-45AE-936F-205900E53DC9}"/>
              </a:ext>
            </a:extLst>
          </p:cNvPr>
          <p:cNvSpPr>
            <a:spLocks noGrp="1"/>
          </p:cNvSpPr>
          <p:nvPr/>
        </p:nvSpPr>
        <p:spPr>
          <a:xfrm>
            <a:off x="785562" y="1931069"/>
            <a:ext cx="9334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用线性代数定位高潜力区域，再用</a:t>
            </a:r>
            <a:r>
              <a:rPr sz="16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DFS </a:t>
            </a:r>
            <a:r>
              <a:rPr sz="165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精确搜索简单套利环</a:t>
            </a:r>
            <a:endParaRPr sz="165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0D956D1-966C-4C2A-A175-1A5840EB3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50" y="2778794"/>
            <a:ext cx="3411955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1D3487-9CB4-4628-BB39-62E623242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50" y="2778794"/>
            <a:ext cx="45719" cy="781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09A6D5C-412C-4B67-97B1-30034C172FE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1550" y="2912144"/>
                <a:ext cx="3223400" cy="5143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65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5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pPr>
                        <m:e>
                          <m:r>
                            <a:rPr lang="en-US" sz="165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𝐶</m:t>
                          </m:r>
                        </m:e>
                        <m:sup>
                          <m:r>
                            <a:rPr lang="en-US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⋆</m:t>
                          </m:r>
                        </m:sup>
                      </m:sSup>
                      <m:func>
                        <m:funcPr>
                          <m:ctrlPr>
                            <a:rPr lang="en-US" sz="165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funcPr>
                        <m:fName>
                          <m:func>
                            <m:funcPr>
                              <m:ctrlPr>
                                <a:rPr lang="en-US" altLang="zh-CN" sz="1650" i="1" smtClean="0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funcPr>
                            <m:fName>
                              <m:r>
                                <a:rPr lang="en-US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=</m:t>
                              </m:r>
                            </m:fName>
                            <m:e>
                              <m:limLow>
                                <m:limLowPr>
                                  <m:ctrlPr>
                                    <a:rPr lang="en-US" sz="1650" i="1" smtClean="0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50" i="0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𝐶</m:t>
                                  </m:r>
                                </m:lim>
                              </m:limLow>
                            </m:e>
                          </m:func>
                        </m:fName>
                        <m:e>
                          <m:d>
                            <m:dPr>
                              <m:ctrlPr>
                                <a:rPr lang="en-US" altLang="zh-CN" sz="1650" i="1" smtClean="0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altLang="zh-CN" sz="1650" i="1" smtClean="0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naryPr>
                                <m:sub>
                                  <m:d>
                                    <m:dPr>
                                      <m:ctrlPr>
                                        <a:rPr lang="en-US" sz="1650" i="1">
                                          <a:solidFill>
                                            <a:srgbClr val="0F172A"/>
                                          </a:solidFill>
                                          <a:latin typeface="Cambria Math" panose="02040503050406030204" pitchFamily="18" charset="0"/>
                                          <a:ea typeface="Aptos Mono"/>
                                          <a:cs typeface="Aptos Mono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50" i="1">
                                          <a:solidFill>
                                            <a:srgbClr val="0F172A"/>
                                          </a:solidFill>
                                          <a:latin typeface="Cambria Math" panose="02040503050406030204" pitchFamily="18" charset="0"/>
                                          <a:ea typeface="Aptos Mono"/>
                                          <a:cs typeface="Aptos Mono"/>
                                        </a:rPr>
                                        <m:t>𝑖</m:t>
                                      </m:r>
                                      <m:r>
                                        <a:rPr lang="en-US" sz="1650" i="1">
                                          <a:solidFill>
                                            <a:srgbClr val="0F172A"/>
                                          </a:solidFill>
                                          <a:latin typeface="Cambria Math" panose="02040503050406030204" pitchFamily="18" charset="0"/>
                                          <a:ea typeface="Aptos Mono"/>
                                          <a:cs typeface="Aptos Mono"/>
                                        </a:rPr>
                                        <m:t>,</m:t>
                                      </m:r>
                                      <m:r>
                                        <a:rPr lang="en-US" sz="1650" i="1">
                                          <a:solidFill>
                                            <a:srgbClr val="0F172A"/>
                                          </a:solidFill>
                                          <a:latin typeface="Cambria Math" panose="02040503050406030204" pitchFamily="18" charset="0"/>
                                          <a:ea typeface="Aptos Mono"/>
                                          <a:cs typeface="Aptos Mono"/>
                                        </a:rPr>
                                        <m:t>𝑗</m:t>
                                      </m:r>
                                    </m:e>
                                  </m:d>
                                  <m:r>
                                    <a:rPr lang="en-US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∈</m:t>
                                  </m:r>
                                  <m:r>
                                    <a:rPr lang="en-US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𝐶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650" i="1">
                                          <a:solidFill>
                                            <a:srgbClr val="0F172A"/>
                                          </a:solidFill>
                                          <a:latin typeface="Cambria Math" panose="02040503050406030204" pitchFamily="18" charset="0"/>
                                          <a:ea typeface="Aptos Mono"/>
                                          <a:cs typeface="Aptos Mono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50" i="1">
                                          <a:solidFill>
                                            <a:srgbClr val="0F172A"/>
                                          </a:solidFill>
                                          <a:latin typeface="Cambria Math" panose="02040503050406030204" pitchFamily="18" charset="0"/>
                                          <a:ea typeface="Aptos Mono"/>
                                          <a:cs typeface="Aptos Mono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650" i="1">
                                          <a:solidFill>
                                            <a:srgbClr val="0F172A"/>
                                          </a:solidFill>
                                          <a:latin typeface="Cambria Math" panose="02040503050406030204" pitchFamily="18" charset="0"/>
                                          <a:ea typeface="Aptos Mono"/>
                                          <a:cs typeface="Aptos Mono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−1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09A6D5C-412C-4B67-97B1-30034C172F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2912144"/>
                <a:ext cx="3223400" cy="514350"/>
              </a:xfrm>
              <a:prstGeom prst="rect">
                <a:avLst/>
              </a:prstGeom>
              <a:blipFill>
                <a:blip r:embed="rId3"/>
                <a:stretch>
                  <a:fillRect t="-188095" b="-247619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58415B42-10C2-41B6-A2C5-DE749C5D4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50" y="4159920"/>
            <a:ext cx="2381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1E5EEC-39EA-4D15-B794-FC4664EB0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50" y="4159920"/>
            <a:ext cx="2381250" cy="47625"/>
          </a:xfrm>
          <a:prstGeom prst="rect">
            <a:avLst/>
          </a:prstGeom>
          <a:solidFill>
            <a:srgbClr val="E11D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2516B8-37A9-4CDD-88B8-DAF040F68588}"/>
              </a:ext>
            </a:extLst>
          </p:cNvPr>
          <p:cNvSpPr>
            <a:spLocks noGrp="1"/>
          </p:cNvSpPr>
          <p:nvPr/>
        </p:nvSpPr>
        <p:spPr>
          <a:xfrm>
            <a:off x="895350" y="435042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1.37 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127FD6-B7AE-4911-B289-3B3A9749608B}"/>
              </a:ext>
            </a:extLst>
          </p:cNvPr>
          <p:cNvSpPr>
            <a:spLocks noGrp="1"/>
          </p:cNvSpPr>
          <p:nvPr/>
        </p:nvSpPr>
        <p:spPr>
          <a:xfrm>
            <a:off x="895350" y="468379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N=10 全图 DFS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2687CF-FCA4-4A4D-BBD0-0AC1A0728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409950" y="4159920"/>
            <a:ext cx="2381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A42AE1-B2C3-4A5A-B556-85CA2A3DC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409950" y="4159920"/>
            <a:ext cx="238125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0FBBB2-3248-47E6-A255-31DD0F167BCE}"/>
              </a:ext>
            </a:extLst>
          </p:cNvPr>
          <p:cNvSpPr>
            <a:spLocks noGrp="1"/>
          </p:cNvSpPr>
          <p:nvPr/>
        </p:nvSpPr>
        <p:spPr>
          <a:xfrm>
            <a:off x="3562350" y="435042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0.4 ms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FED780-00B3-4FA2-8D2D-209D52EF7CC8}"/>
              </a:ext>
            </a:extLst>
          </p:cNvPr>
          <p:cNvSpPr>
            <a:spLocks noGrp="1"/>
          </p:cNvSpPr>
          <p:nvPr/>
        </p:nvSpPr>
        <p:spPr>
          <a:xfrm>
            <a:off x="3562350" y="468379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Lap-6Node 搜索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0F8655-C840-4B75-B784-4651E24E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076950" y="4159920"/>
            <a:ext cx="2381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7B21B28-CBBB-4B42-8576-F0E95A3A5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076950" y="4159920"/>
            <a:ext cx="23812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5489923-425A-44E2-81F4-70108E146F03}"/>
              </a:ext>
            </a:extLst>
          </p:cNvPr>
          <p:cNvSpPr>
            <a:spLocks noGrp="1"/>
          </p:cNvSpPr>
          <p:nvPr/>
        </p:nvSpPr>
        <p:spPr>
          <a:xfrm>
            <a:off x="6229350" y="435042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dirty="0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18 </a:t>
            </a:r>
            <a:r>
              <a:rPr sz="2100" b="1" dirty="0" err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ms</a:t>
            </a:r>
            <a:endParaRPr sz="2100" b="1" dirty="0">
              <a:solidFill>
                <a:srgbClr val="2563E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B4118B4-8D26-41A2-8AC5-FD3C7802D179}"/>
              </a:ext>
            </a:extLst>
          </p:cNvPr>
          <p:cNvSpPr>
            <a:spLocks noGrp="1"/>
          </p:cNvSpPr>
          <p:nvPr/>
        </p:nvSpPr>
        <p:spPr>
          <a:xfrm>
            <a:off x="6229350" y="468379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Lap/SVD-8Node 搜索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4607A12-AFCC-42A8-99A7-D54454043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743950" y="4159920"/>
            <a:ext cx="2381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7CC3277-C7A6-418E-8DED-71BC002F8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743950" y="4159920"/>
            <a:ext cx="238125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D4DFE6-148D-41AA-8487-725E3852649F}"/>
              </a:ext>
            </a:extLst>
          </p:cNvPr>
          <p:cNvSpPr>
            <a:spLocks noGrp="1"/>
          </p:cNvSpPr>
          <p:nvPr/>
        </p:nvSpPr>
        <p:spPr>
          <a:xfrm>
            <a:off x="8896350" y="435042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81–87%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A280A19-9B2A-494F-88BC-2428311D997C}"/>
              </a:ext>
            </a:extLst>
          </p:cNvPr>
          <p:cNvSpPr>
            <a:spLocks noGrp="1"/>
          </p:cNvSpPr>
          <p:nvPr/>
        </p:nvSpPr>
        <p:spPr>
          <a:xfrm>
            <a:off x="8896350" y="468379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Trap=True 理论参考比例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FF6B43E-9A48-4A80-8675-7AA787C304A7}"/>
              </a:ext>
            </a:extLst>
          </p:cNvPr>
          <p:cNvSpPr>
            <a:spLocks noGrp="1"/>
          </p:cNvSpPr>
          <p:nvPr/>
        </p:nvSpPr>
        <p:spPr>
          <a:xfrm>
            <a:off x="742950" y="5355307"/>
            <a:ext cx="857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1350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计</a:t>
            </a:r>
            <a:r>
              <a:rPr lang="en-US" altLang="zh-CN" sz="1350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58-</a:t>
            </a:r>
            <a:r>
              <a:rPr lang="zh-CN" altLang="en-US" sz="1350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经</a:t>
            </a:r>
            <a:r>
              <a:rPr lang="en-US" altLang="zh-CN" sz="1350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52</a:t>
            </a:r>
            <a:r>
              <a:rPr lang="zh-CN" altLang="en-US" sz="1350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汪思延 刘宇同 杨子譞</a:t>
            </a:r>
            <a:endParaRPr sz="1350" b="1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10C1ED4-1142-5F2A-7E8D-E13CB43BC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5450" y="1678658"/>
            <a:ext cx="2007519" cy="1933166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1242A16B-7B34-436B-DEBC-4AA86CD41C02}"/>
              </a:ext>
            </a:extLst>
          </p:cNvPr>
          <p:cNvSpPr txBox="1"/>
          <p:nvPr/>
        </p:nvSpPr>
        <p:spPr>
          <a:xfrm>
            <a:off x="6096000" y="35771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https://github.com/SamuelWsy/GraphTheoryProject</a:t>
            </a:r>
          </a:p>
        </p:txBody>
      </p:sp>
    </p:spTree>
    <p:extLst>
      <p:ext uri="{BB962C8B-B14F-4D97-AF65-F5344CB8AC3E}">
        <p14:creationId xmlns:p14="http://schemas.microsoft.com/office/powerpoint/2010/main" val="1584020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C9CDF54-A3DE-439F-A395-A797E9DFF4AA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MATRIX PRUNING + GRAPH SEARCH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323346-E068-46A2-86DC-F6B858C6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DC9274-BB07-4E41-86AC-AFE97B1C0583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26629504-53F1-47D3-9755-E4F4B5CD5E2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90550" y="819150"/>
                <a:ext cx="8572500" cy="533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t"/>
              <a:lstStyle/>
              <a:p>
                <a:pPr algn="l">
                  <a:defRPr sz="2550" b="1">
                    <a:solidFill>
                      <a:srgbClr val="0F172A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zh-CN" altLang="en-US" sz="2550" b="1" dirty="0">
                    <a:solidFill>
                      <a:srgbClr val="0F172A"/>
                    </a:solidFill>
                    <a:latin typeface="Aptos Display"/>
                    <a:ea typeface="Aptos Display"/>
                    <a:cs typeface="Aptos Display"/>
                  </a:rPr>
                  <a:t>研究问题</a:t>
                </a:r>
                <a:r>
                  <a:rPr lang="zh-CN" altLang="en-US" sz="2550" b="1" dirty="0" err="1">
                    <a:solidFill>
                      <a:srgbClr val="0F172A"/>
                    </a:solidFill>
                    <a:latin typeface="Aptos Display"/>
                    <a:ea typeface="Aptos Display"/>
                    <a:cs typeface="Aptos Display"/>
                  </a:rPr>
                  <a:t>：判断套利存在</a:t>
                </a:r>
                <a14:m>
                  <m:oMath xmlns:m="http://schemas.openxmlformats.org/officeDocument/2006/math">
                    <m:r>
                      <a:rPr lang="zh-CN" altLang="en-US" sz="2550" b="1" i="0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  <a:ea typeface="Aptos Display"/>
                        <a:cs typeface="Aptos Display"/>
                      </a:rPr>
                      <m:t> </m:t>
                    </m:r>
                    <m:r>
                      <a:rPr lang="zh-CN" altLang="en-US" sz="2550" b="1" i="1" smtClean="0">
                        <a:solidFill>
                          <a:srgbClr val="0F172A"/>
                        </a:solidFill>
                        <a:latin typeface="Cambria Math" panose="02040503050406030204" pitchFamily="18" charset="0"/>
                        <a:ea typeface="Aptos Display"/>
                        <a:cs typeface="Aptos Display"/>
                      </a:rPr>
                      <m:t>→</m:t>
                    </m:r>
                  </m:oMath>
                </a14:m>
                <a:r>
                  <a:rPr lang="zh-CN" altLang="en-US" sz="2550" b="1" dirty="0">
                    <a:solidFill>
                      <a:srgbClr val="0F172A"/>
                    </a:solidFill>
                    <a:latin typeface="Aptos Display"/>
                    <a:ea typeface="Aptos Display"/>
                    <a:cs typeface="Aptos Display"/>
                  </a:rPr>
                  <a:t> </a:t>
                </a:r>
                <a:r>
                  <a:rPr lang="zh-CN" altLang="en-US" sz="2550" b="1" dirty="0" err="1">
                    <a:solidFill>
                      <a:srgbClr val="0F172A"/>
                    </a:solidFill>
                    <a:latin typeface="Aptos Display"/>
                    <a:ea typeface="Aptos Display"/>
                    <a:cs typeface="Aptos Display"/>
                  </a:rPr>
                  <a:t>搜索最高收益简单环</a:t>
                </a:r>
                <a:endParaRPr sz="2550" b="1" dirty="0">
                  <a:solidFill>
                    <a:srgbClr val="0F172A"/>
                  </a:solidFill>
                  <a:latin typeface="Aptos Display"/>
                  <a:ea typeface="Aptos Display"/>
                  <a:cs typeface="Aptos Display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26629504-53F1-47D3-9755-E4F4B5CD5E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" y="819150"/>
                <a:ext cx="8572500" cy="533400"/>
              </a:xfrm>
              <a:prstGeom prst="rect">
                <a:avLst/>
              </a:prstGeom>
              <a:blipFill>
                <a:blip r:embed="rId3"/>
                <a:stretch>
                  <a:fillRect l="-2367" t="-20455" b="-6818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534F2D94-4A4F-4C9F-8275-B633C27EA13A}"/>
              </a:ext>
            </a:extLst>
          </p:cNvPr>
          <p:cNvSpPr>
            <a:spLocks noGrp="1"/>
          </p:cNvSpPr>
          <p:nvPr/>
        </p:nvSpPr>
        <p:spPr>
          <a:xfrm>
            <a:off x="590550" y="1419225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SPFA / Bellman-Ford 能检测负环，但不保证返回最赚钱的回路。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2940A8-FE43-4CAA-9F84-C2B5D35A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62000" y="1943100"/>
            <a:ext cx="5905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943CB0-43BA-4546-9E79-38874348D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62000" y="1943100"/>
            <a:ext cx="57150" cy="7239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9C9C9C7-CD01-4162-B463-2F3AEC82A32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47675" y="2057400"/>
                <a:ext cx="6838950" cy="457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575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575" i="1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𝑅</m:t>
                      </m:r>
                      <m:d>
                        <m:dPr>
                          <m:ctrlP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𝐶</m:t>
                          </m:r>
                        </m:e>
                      </m:d>
                      <m:r>
                        <a:rPr lang="en-US" altLang="zh-CN" sz="1575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naryPr>
                        <m:sub>
                          <m: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𝑡</m:t>
                          </m:r>
                          <m: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575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575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𝑅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𝑡</m:t>
                                  </m:r>
                                  <m: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+1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  <m:r>
                        <a:rPr lang="en-US" altLang="zh-CN" sz="1575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, </m:t>
                      </m:r>
                      <m:sSub>
                        <m:sSubPr>
                          <m:ctrlP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𝑘</m:t>
                          </m:r>
                          <m: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+1</m:t>
                          </m:r>
                        </m:sub>
                      </m:sSub>
                      <m:r>
                        <a:rPr lang="en-US" altLang="zh-CN" sz="1575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sSub>
                        <m:sSubPr>
                          <m:ctrlP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9C9C9C7-CD01-4162-B463-2F3AEC82A3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75" y="2057400"/>
                <a:ext cx="6838950" cy="457200"/>
              </a:xfrm>
              <a:prstGeom prst="rect">
                <a:avLst/>
              </a:prstGeom>
              <a:blipFill>
                <a:blip r:embed="rId4"/>
                <a:stretch>
                  <a:fillRect t="-200000" b="-291892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C1AA92F2-874E-4BC1-830C-96FF1EB46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62000" y="2895600"/>
            <a:ext cx="5905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2C800A-51DB-42C7-986B-B0EB4DE64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62000" y="2895600"/>
            <a:ext cx="57150" cy="6667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B7E3F49D-4DE4-4316-926E-ED94EA1BACD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81150" y="3028950"/>
                <a:ext cx="4552950" cy="4000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80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𝑃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𝐶</m:t>
                          </m:r>
                        </m:e>
                      </m:d>
                      <m:r>
                        <a:rPr lang="en-US" altLang="zh-CN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r>
                        <a:rPr lang="en-US" altLang="zh-CN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𝑅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𝐶</m:t>
                          </m:r>
                        </m:e>
                      </m:d>
                      <m:r>
                        <a:rPr lang="en-US" altLang="zh-CN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−1&gt;0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B7E3F49D-4DE4-4316-926E-ED94EA1BAC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150" y="3028950"/>
                <a:ext cx="4552950" cy="400050"/>
              </a:xfrm>
              <a:prstGeom prst="rect">
                <a:avLst/>
              </a:prstGeom>
              <a:blipFill>
                <a:blip r:embed="rId5"/>
                <a:stretch>
                  <a:fillRect t="-3030" b="-18182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18C349FF-386D-4ED9-8570-7AECA9BCF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62000" y="3848100"/>
            <a:ext cx="5905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D2E51E-371D-4BBB-B3FB-AF2D969AD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62000" y="3848100"/>
            <a:ext cx="57150" cy="723900"/>
          </a:xfrm>
          <a:prstGeom prst="rect">
            <a:avLst/>
          </a:prstGeom>
          <a:solidFill>
            <a:srgbClr val="E11D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078B236-A466-4F0D-BAB4-0F3B771AFA5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90600" y="3981450"/>
                <a:ext cx="5505450" cy="457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575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575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pPr>
                        <m:e>
                          <m:r>
                            <a:rPr lang="en-US" altLang="zh-CN" sz="1575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⋆</m:t>
                          </m:r>
                        </m:sup>
                      </m:sSup>
                      <m:func>
                        <m:funcPr>
                          <m:ctrlP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funcPr>
                        <m:fName>
                          <m:r>
                            <a:rPr lang="en-US" altLang="zh-CN" sz="157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=</m:t>
                          </m:r>
                        </m:fName>
                        <m:e>
                          <m:func>
                            <m:funcPr>
                              <m:ctrlPr>
                                <a:rPr lang="en-US" altLang="zh-CN" sz="1575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575" i="0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𝐶</m:t>
                                  </m:r>
                                  <m: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∈</m:t>
                                  </m:r>
                                  <m: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𝒮</m:t>
                                  </m:r>
                                  <m:d>
                                    <m:dPr>
                                      <m:ctrlPr>
                                        <a:rPr lang="en-US" altLang="zh-CN" sz="1575" i="1">
                                          <a:solidFill>
                                            <a:srgbClr val="0F172A"/>
                                          </a:solidFill>
                                          <a:latin typeface="Cambria Math" panose="02040503050406030204" pitchFamily="18" charset="0"/>
                                          <a:ea typeface="Aptos Mono"/>
                                          <a:cs typeface="Aptos Mono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575" i="1">
                                          <a:solidFill>
                                            <a:srgbClr val="0F172A"/>
                                          </a:solidFill>
                                          <a:latin typeface="Cambria Math" panose="02040503050406030204" pitchFamily="18" charset="0"/>
                                          <a:ea typeface="Aptos Mono"/>
                                          <a:cs typeface="Aptos Mono"/>
                                        </a:rPr>
                                        <m:t>𝐺</m:t>
                                      </m:r>
                                    </m:e>
                                  </m:d>
                                </m:lim>
                              </m:limLow>
                            </m:fName>
                            <m:e>
                              <m:r>
                                <a:rPr lang="en-US" altLang="zh-CN" sz="1575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575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𝐶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078B236-A466-4F0D-BAB4-0F3B771AFA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3981450"/>
                <a:ext cx="5505450" cy="45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>
            <a:extLst>
              <a:ext uri="{FF2B5EF4-FFF2-40B4-BE49-F238E27FC236}">
                <a16:creationId xmlns:a16="http://schemas.microsoft.com/office/drawing/2014/main" id="{C74D0F3A-098F-45DC-A025-43153F780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239000" y="2152650"/>
            <a:ext cx="82537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7A9836B-19AE-4D89-9663-A80FEFC4CD0F}"/>
              </a:ext>
            </a:extLst>
          </p:cNvPr>
          <p:cNvSpPr>
            <a:spLocks noGrp="1"/>
          </p:cNvSpPr>
          <p:nvPr/>
        </p:nvSpPr>
        <p:spPr>
          <a:xfrm>
            <a:off x="7429500" y="2076450"/>
            <a:ext cx="4401944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顶点表示货币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/ </a:t>
            </a: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资产，边表示可兑换关系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BE1CD26-D5E0-4438-ADE3-E40EFBE77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239000" y="2724150"/>
            <a:ext cx="82537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85CC0FE-9DA9-42D1-886B-6C9197560710}"/>
              </a:ext>
            </a:extLst>
          </p:cNvPr>
          <p:cNvSpPr>
            <a:spLocks noGrp="1"/>
          </p:cNvSpPr>
          <p:nvPr/>
        </p:nvSpPr>
        <p:spPr>
          <a:xfrm>
            <a:off x="7429500" y="2647950"/>
            <a:ext cx="4787114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套利回路是乘法收益大于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1 </a:t>
            </a: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的闭合路径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B33F590-EF93-45B5-8790-F4D6CC394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239000" y="3295650"/>
            <a:ext cx="82537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EB08F7B-ACE6-4177-88FB-309B6A16F59E}"/>
              </a:ext>
            </a:extLst>
          </p:cNvPr>
          <p:cNvSpPr>
            <a:spLocks noGrp="1"/>
          </p:cNvSpPr>
          <p:nvPr/>
        </p:nvSpPr>
        <p:spPr>
          <a:xfrm>
            <a:off x="7429500" y="3219450"/>
            <a:ext cx="4401944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项目目标升级为最高收益简单回路搜索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A644AB6-65C5-4B24-A935-A03440A82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239000" y="3802380"/>
            <a:ext cx="4401944" cy="685800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025AA2C-83BE-4A0B-8FD0-0E175795DAF0}"/>
              </a:ext>
            </a:extLst>
          </p:cNvPr>
          <p:cNvSpPr>
            <a:spLocks noGrp="1"/>
          </p:cNvSpPr>
          <p:nvPr/>
        </p:nvSpPr>
        <p:spPr>
          <a:xfrm>
            <a:off x="7410450" y="3935730"/>
            <a:ext cx="3961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00" b="1" dirty="0" err="1">
                <a:solidFill>
                  <a:srgbClr val="2563EB"/>
                </a:solidFill>
                <a:latin typeface="Aptos"/>
                <a:ea typeface="Aptos"/>
                <a:cs typeface="Aptos"/>
              </a:rPr>
              <a:t>核心难点</a:t>
            </a:r>
            <a:r>
              <a:rPr sz="1600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：</a:t>
            </a:r>
            <a:endParaRPr lang="en-US" sz="1600" b="1" dirty="0">
              <a:solidFill>
                <a:srgbClr val="2563EB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00" b="1" dirty="0" err="1">
                <a:solidFill>
                  <a:srgbClr val="2563EB"/>
                </a:solidFill>
                <a:latin typeface="Aptos"/>
                <a:ea typeface="Aptos"/>
                <a:cs typeface="Aptos"/>
              </a:rPr>
              <a:t>简单回路数量巨大，必须先剪枝再搜索</a:t>
            </a:r>
            <a:r>
              <a:rPr sz="1600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91049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18E2540-6349-476C-89CE-141CB438626B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MATRIX PRUNING + GRAPH SEARCH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707070-25B4-4EFE-9699-DC0B91850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BE11D0C-1166-41B4-B93A-663B09AC5F13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53563A-6E0A-44FB-99D9-64A44BA3E9B1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复杂度压力：完全图中的简单环数量阶乘级爆炸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61E3D3-8F5D-4AA8-A5AB-7EF411F09F2A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全图 DFS 只能作为小规模真值，无法直接扩展到 N=50+。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E9F187-BE06-4454-ADE2-776CB072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62000" y="1962150"/>
            <a:ext cx="68580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25AFD1-A84B-4D85-9DFE-C82238C50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62000" y="2038350"/>
            <a:ext cx="57150" cy="781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AD4EC91-F740-43AE-9357-E5A21611BB4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90600" y="2161761"/>
                <a:ext cx="6457950" cy="5143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65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5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𝑁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𝐿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d>
                        <m:dPr>
                          <m:ctrlP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fPr>
                            <m:num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𝐿</m:t>
                          </m:r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−1</m:t>
                          </m:r>
                        </m:e>
                      </m:d>
                      <m:r>
                        <a:rPr lang="en-US" altLang="zh-CN" sz="165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!=</m:t>
                      </m:r>
                      <m:f>
                        <m:fPr>
                          <m:ctrlP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fPr>
                        <m:num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𝑁</m:t>
                          </m:r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dPr>
                            <m:e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𝑁</m:t>
                              </m:r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−</m:t>
                              </m:r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𝐿</m:t>
                              </m:r>
                            </m:e>
                          </m:d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!</m:t>
                          </m:r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AD4EC91-F740-43AE-9357-E5A21611BB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161761"/>
                <a:ext cx="6457950" cy="514350"/>
              </a:xfrm>
              <a:prstGeom prst="rect">
                <a:avLst/>
              </a:prstGeom>
              <a:blipFill>
                <a:blip r:embed="rId3"/>
                <a:stretch>
                  <a:fillRect t="-2381" b="-4762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31A4C76A-D7AC-432D-B75E-57A6411BE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68580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D4978E-73C0-4333-8351-50CE1515A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62000" y="3244678"/>
            <a:ext cx="57150" cy="781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BB880636-C619-4948-95C2-DCF3A945335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90600" y="3324225"/>
                <a:ext cx="6457950" cy="5143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65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5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650" i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cycle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naryPr>
                        <m:sub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𝐿</m:t>
                          </m:r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=2</m:t>
                          </m:r>
                        </m:sub>
                        <m:sup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fPr>
                            <m:num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𝑁</m:t>
                              </m:r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!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altLang="zh-CN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𝑁</m:t>
                                  </m:r>
                                  <m:r>
                                    <a:rPr lang="en-US" altLang="zh-CN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−</m:t>
                                  </m:r>
                                  <m:r>
                                    <a:rPr lang="en-US" altLang="zh-CN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𝐿</m:t>
                                  </m:r>
                                </m:e>
                              </m:d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!</m:t>
                              </m:r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𝐿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sz="1650" b="0" dirty="0">
                  <a:solidFill>
                    <a:srgbClr val="0F172A"/>
                  </a:solidFill>
                  <a:latin typeface="Aptos Mono"/>
                  <a:ea typeface="Aptos Mono"/>
                  <a:cs typeface="Aptos Mono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BB880636-C619-4948-95C2-DCF3A94533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3324225"/>
                <a:ext cx="6457950" cy="514350"/>
              </a:xfrm>
              <a:prstGeom prst="rect">
                <a:avLst/>
              </a:prstGeom>
              <a:blipFill>
                <a:blip r:embed="rId4"/>
                <a:stretch>
                  <a:fillRect t="-173810" b="-261905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6AF4E96F-E84C-4439-92A3-B5A8E748A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096250" y="1943100"/>
            <a:ext cx="3048000" cy="438150"/>
          </a:xfrm>
          <a:prstGeom prst="rect">
            <a:avLst/>
          </a:prstGeom>
          <a:solidFill>
            <a:srgbClr val="E0F2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70B8B85-4A3E-449E-BCEA-E27A5C18F876}"/>
              </a:ext>
            </a:extLst>
          </p:cNvPr>
          <p:cNvSpPr>
            <a:spLocks noGrp="1"/>
          </p:cNvSpPr>
          <p:nvPr/>
        </p:nvSpPr>
        <p:spPr>
          <a:xfrm>
            <a:off x="8229600" y="2057400"/>
            <a:ext cx="90678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b="1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规模</a:t>
            </a:r>
            <a:endParaRPr b="1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A16049-E711-416E-B149-19A684B2F15E}"/>
              </a:ext>
            </a:extLst>
          </p:cNvPr>
          <p:cNvSpPr>
            <a:spLocks noGrp="1"/>
          </p:cNvSpPr>
          <p:nvPr/>
        </p:nvSpPr>
        <p:spPr>
          <a:xfrm>
            <a:off x="9307830" y="2057400"/>
            <a:ext cx="170307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全图 DFS 状态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38649B-D119-45F5-A804-D2912FA3A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096250" y="2381250"/>
            <a:ext cx="3048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E1C656-4CA8-47D7-BD2B-0213B5CD2693}"/>
              </a:ext>
            </a:extLst>
          </p:cNvPr>
          <p:cNvSpPr>
            <a:spLocks noGrp="1"/>
          </p:cNvSpPr>
          <p:nvPr/>
        </p:nvSpPr>
        <p:spPr>
          <a:xfrm>
            <a:off x="8229600" y="2495550"/>
            <a:ext cx="90678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N=10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C9C344B-3593-4D37-BE96-75F38E44C307}"/>
              </a:ext>
            </a:extLst>
          </p:cNvPr>
          <p:cNvSpPr>
            <a:spLocks noGrp="1"/>
          </p:cNvSpPr>
          <p:nvPr/>
        </p:nvSpPr>
        <p:spPr>
          <a:xfrm>
            <a:off x="9307830" y="2495550"/>
            <a:ext cx="170307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约 1.37 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A99EADB-D247-455B-9EE9-3E4CABD7F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096250" y="2819400"/>
            <a:ext cx="3048000" cy="4381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5C018A4-5466-4B00-A169-58A45A7954DE}"/>
              </a:ext>
            </a:extLst>
          </p:cNvPr>
          <p:cNvSpPr>
            <a:spLocks noGrp="1"/>
          </p:cNvSpPr>
          <p:nvPr/>
        </p:nvSpPr>
        <p:spPr>
          <a:xfrm>
            <a:off x="8229600" y="2933700"/>
            <a:ext cx="90678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N=50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5C7A98E-ABBF-48D2-9FF4-C2EB0A041817}"/>
              </a:ext>
            </a:extLst>
          </p:cNvPr>
          <p:cNvSpPr>
            <a:spLocks noGrp="1"/>
          </p:cNvSpPr>
          <p:nvPr/>
        </p:nvSpPr>
        <p:spPr>
          <a:xfrm>
            <a:off x="9307830" y="2933700"/>
            <a:ext cx="170307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约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10^49 </a:t>
            </a: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年</a:t>
            </a:r>
            <a:endParaRPr sz="1600" b="0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8D2EC49-8E49-4CB2-A880-212CADC4A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096250" y="3257550"/>
            <a:ext cx="30480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20D043-AD09-46E8-A9F2-BB339DE88ADC}"/>
              </a:ext>
            </a:extLst>
          </p:cNvPr>
          <p:cNvSpPr>
            <a:spLocks noGrp="1"/>
          </p:cNvSpPr>
          <p:nvPr/>
        </p:nvSpPr>
        <p:spPr>
          <a:xfrm>
            <a:off x="8229600" y="3371850"/>
            <a:ext cx="90678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N=100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FD4DDE4-2B19-41A3-8DE9-F1EB8E8F1CE1}"/>
              </a:ext>
            </a:extLst>
          </p:cNvPr>
          <p:cNvSpPr>
            <a:spLocks noGrp="1"/>
          </p:cNvSpPr>
          <p:nvPr/>
        </p:nvSpPr>
        <p:spPr>
          <a:xfrm>
            <a:off x="9307830" y="3371850"/>
            <a:ext cx="170307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约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10^143 </a:t>
            </a: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年</a:t>
            </a:r>
            <a:endParaRPr sz="1600" b="0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689C976-256F-44C7-853F-373AF339C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096250" y="3695700"/>
            <a:ext cx="3048000" cy="4381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4A8C38D-FBC7-47E7-8806-02C64E8ACA62}"/>
              </a:ext>
            </a:extLst>
          </p:cNvPr>
          <p:cNvSpPr>
            <a:spLocks noGrp="1"/>
          </p:cNvSpPr>
          <p:nvPr/>
        </p:nvSpPr>
        <p:spPr>
          <a:xfrm>
            <a:off x="8229600" y="3810000"/>
            <a:ext cx="90678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N=200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6FB87A0-4161-4EDA-A223-F73266EC597B}"/>
              </a:ext>
            </a:extLst>
          </p:cNvPr>
          <p:cNvSpPr>
            <a:spLocks noGrp="1"/>
          </p:cNvSpPr>
          <p:nvPr/>
        </p:nvSpPr>
        <p:spPr>
          <a:xfrm>
            <a:off x="9307830" y="3810000"/>
            <a:ext cx="170307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约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10^359 </a:t>
            </a: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年</a:t>
            </a:r>
            <a:endParaRPr sz="1600" b="0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04A747E-B7EE-4036-ABBE-2EB76C49E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35330" y="4572000"/>
            <a:ext cx="10408920" cy="685800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8A9D66C-67D1-4053-AB3A-7C1829B51E87}"/>
              </a:ext>
            </a:extLst>
          </p:cNvPr>
          <p:cNvSpPr>
            <a:spLocks noGrp="1"/>
          </p:cNvSpPr>
          <p:nvPr/>
        </p:nvSpPr>
        <p:spPr>
          <a:xfrm>
            <a:off x="906779" y="4705350"/>
            <a:ext cx="9992563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问题转化：如何在</a:t>
            </a:r>
            <a:r>
              <a:rPr lang="zh-CN" alt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尽可能</a:t>
            </a:r>
            <a:r>
              <a:rPr sz="20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不破坏套利环的前提下</a:t>
            </a:r>
            <a:r>
              <a:rPr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，</a:t>
            </a:r>
            <a:r>
              <a:rPr lang="zh-CN" alt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减少</a:t>
            </a:r>
            <a:r>
              <a:rPr lang="en-US" altLang="zh-CN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n</a:t>
            </a:r>
            <a:r>
              <a:rPr lang="zh-CN" alt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的值</a:t>
            </a:r>
            <a:r>
              <a:rPr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751301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3E049CB-5146-4CEB-B3C1-83C2DC2BA7CB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MATRIX PRUNING + GRAPH SEARCH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E46064-0498-4033-86D8-FD799B971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2ACF5A-F7F9-4876-9CF4-AAB8CC54EF85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6B26EA-5752-4689-833E-B6B9F199B18D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整体框架：矩阵方法负责全局筛选，DFS 负责局部精确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7C8728-7672-4C13-BB3F-54CA127208FD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完整图不可搜索时，先用残差定位热点节点，再在诱导子图中精确枚举简单环。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719F36-659F-4D1B-AD2C-C33952C64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50" y="1790700"/>
            <a:ext cx="10706100" cy="36957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021518"/>
            <a:ext cx="10515600" cy="323406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7A5AC72-A6C0-4AFD-9E1F-43D3DD21F76C}"/>
              </a:ext>
            </a:extLst>
          </p:cNvPr>
          <p:cNvSpPr>
            <a:spLocks noGrp="1"/>
          </p:cNvSpPr>
          <p:nvPr/>
        </p:nvSpPr>
        <p:spPr>
          <a:xfrm>
            <a:off x="742950" y="5581650"/>
            <a:ext cx="10706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0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整体</a:t>
            </a:r>
            <a:r>
              <a:rPr lang="zh-CN" altLang="en-US" sz="14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sz="140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pipeline</a:t>
            </a:r>
            <a:r>
              <a:rPr sz="140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：完整汇率图</a:t>
            </a:r>
            <a:r>
              <a:rPr sz="14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→ </a:t>
            </a:r>
            <a:r>
              <a:rPr sz="140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矩阵残差</a:t>
            </a:r>
            <a:r>
              <a:rPr sz="14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→ </a:t>
            </a:r>
            <a:r>
              <a:rPr sz="140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热点节点</a:t>
            </a:r>
            <a:r>
              <a:rPr sz="14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→ </a:t>
            </a:r>
            <a:r>
              <a:rPr sz="140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诱导子图</a:t>
            </a:r>
            <a:r>
              <a:rPr sz="14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→ DFS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076D23-2802-40B9-8F23-E535E1222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00150" y="5962650"/>
            <a:ext cx="97917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8FE54D7-8225-4CF3-9DFC-46019B67E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00150" y="5962650"/>
            <a:ext cx="57150" cy="5334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C1E987AE-8B38-4AE9-AF46-570E559D653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28750" y="6096000"/>
                <a:ext cx="9391650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425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𝑁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→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𝑚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→</m:t>
                      </m:r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𝐺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→</m:t>
                      </m:r>
                      <m:sSubSup>
                        <m:sSubSupPr>
                          <m:ctrlP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𝑚</m:t>
                          </m:r>
                        </m:sub>
                        <m:sup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⋆</m:t>
                          </m:r>
                        </m:sup>
                      </m:sSubSup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,  </m:t>
                      </m:r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𝑚</m:t>
                      </m:r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∈</m:t>
                      </m:r>
                      <m:r>
                        <m:rPr>
                          <m:lit/>
                        </m:rP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{</m:t>
                      </m:r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6,8</m:t>
                      </m:r>
                      <m:r>
                        <m:rPr>
                          <m:lit/>
                        </m:rP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}</m:t>
                      </m:r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≪</m:t>
                      </m:r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𝑁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C1E987AE-8B38-4AE9-AF46-570E559D65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750" y="6096000"/>
                <a:ext cx="9391650" cy="266700"/>
              </a:xfrm>
              <a:prstGeom prst="rect">
                <a:avLst/>
              </a:prstGeom>
              <a:blipFill>
                <a:blip r:embed="rId4"/>
                <a:stretch>
                  <a:fillRect t="-18182" b="-40909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25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5BB1CC1-900F-4878-8B01-98A17888C4FE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MATRIX PRUNING + GRAPH SEARCH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75370C-5F3F-4C86-ACF8-F5F3BAE05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0FF654-250A-48E4-B216-E1980B2041BB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18BE8B-455C-4EFF-B8D3-9148218D444F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创新一：SVD + Sinkhorn 从秩一结构中找异常汇率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6CDF41-BE07-4A4A-A605-479071DDF3F4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无套利市场的汇率由一组基准价值比决定，因此矩阵近似秩一。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BB7CD0-3347-48AF-B7FD-11A96236A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49" y="1885950"/>
            <a:ext cx="4781551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932629-C36D-4172-840B-9D1FEAFD0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50" y="1885950"/>
            <a:ext cx="69974" cy="6667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B230C693-D86B-4508-B619-775ECC69073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1550" y="2019300"/>
                <a:ext cx="4291734" cy="4000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80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𝑖𝑗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B230C693-D86B-4508-B619-775ECC6907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2019300"/>
                <a:ext cx="4291734" cy="400050"/>
              </a:xfrm>
              <a:prstGeom prst="rect">
                <a:avLst/>
              </a:prstGeom>
              <a:blipFill>
                <a:blip r:embed="rId3"/>
                <a:stretch>
                  <a:fillRect t="-14706" b="-32353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0D09D613-0D31-4D38-9081-3B23E57A1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49" y="2781300"/>
            <a:ext cx="4781551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230B20-4A6E-4F31-9D42-32C92850B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50" y="2781300"/>
            <a:ext cx="69974" cy="6667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CBD6B3E0-8A3D-4446-87C1-7488785D942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1550" y="2914650"/>
                <a:ext cx="4291734" cy="4000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80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i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rank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𝑅</m:t>
                              </m:r>
                            </m:e>
                          </m:d>
                        </m:e>
                      </m:func>
                      <m:r>
                        <a:rPr lang="en-US" altLang="zh-CN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CBD6B3E0-8A3D-4446-87C1-7488785D94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2914650"/>
                <a:ext cx="4291734" cy="400050"/>
              </a:xfrm>
              <a:prstGeom prst="rect">
                <a:avLst/>
              </a:prstGeom>
              <a:blipFill>
                <a:blip r:embed="rId4"/>
                <a:stretch>
                  <a:fillRect t="-3030" b="-18182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B0A1E73C-7203-45FB-AB64-F63704C98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49" y="3676650"/>
            <a:ext cx="4781551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BCFCE6-B54A-4F9B-A541-C0E2DF1DE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50" y="3676650"/>
            <a:ext cx="69974" cy="6667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D3C81F9-B137-4736-99C2-E0D251E1FF9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1550" y="3810000"/>
                <a:ext cx="4291734" cy="4000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725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altLang="zh-CN" sz="1725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accPr>
                        <m:e>
                          <m:r>
                            <a:rPr lang="en-US" altLang="zh-CN" sz="172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𝑅</m:t>
                          </m:r>
                        </m:e>
                      </m:acc>
                      <m:r>
                        <a:rPr lang="en-US" altLang="zh-CN" sz="1725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sSub>
                        <m:sSubPr>
                          <m:ctrlPr>
                            <a:rPr lang="en-US" altLang="zh-CN" sz="172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72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72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𝑟</m:t>
                          </m:r>
                        </m:sub>
                      </m:sSub>
                      <m:r>
                        <a:rPr lang="en-US" altLang="zh-CN" sz="1725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𝑅</m:t>
                      </m:r>
                      <m:sSub>
                        <m:sSubPr>
                          <m:ctrlPr>
                            <a:rPr lang="en-US" altLang="zh-CN" sz="172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72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725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D3C81F9-B137-4736-99C2-E0D251E1FF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3810000"/>
                <a:ext cx="4291734" cy="400050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>
            <a:extLst>
              <a:ext uri="{FF2B5EF4-FFF2-40B4-BE49-F238E27FC236}">
                <a16:creationId xmlns:a16="http://schemas.microsoft.com/office/drawing/2014/main" id="{857115E7-F521-432D-85E8-BAC75E463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49" y="4572000"/>
            <a:ext cx="4781551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F26439F-25D1-4112-A04F-6E4124432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59769" cy="723900"/>
          </a:xfrm>
          <a:prstGeom prst="rect">
            <a:avLst/>
          </a:prstGeom>
          <a:solidFill>
            <a:srgbClr val="E11D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359B0A6-8CE6-4139-9C51-78F9E022BC3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1550" y="4705350"/>
                <a:ext cx="4363166" cy="457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 algn="l">
                  <a:defRPr sz="1575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575" b="0" i="0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Δ</m:t>
                      </m:r>
                      <m:r>
                        <a:rPr lang="en-US" sz="1575" b="0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𝑅</m:t>
                      </m:r>
                      <m:r>
                        <a:rPr lang="en-US" sz="1575" b="0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en-US" sz="1575" b="0" i="1" dirty="0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accPr>
                        <m:e>
                          <m:r>
                            <a:rPr lang="en-US" sz="1575" b="0" i="1" dirty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𝑅</m:t>
                          </m:r>
                        </m:e>
                      </m:acc>
                      <m:r>
                        <a:rPr lang="en-US" sz="1575" b="0" i="1" dirty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−</m:t>
                      </m:r>
                      <m:sSub>
                        <m:sSubPr>
                          <m:ctrlPr>
                            <a:rPr lang="en-US" sz="1575" b="0" i="1" dirty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sz="1575" b="0" i="1" dirty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𝜎</m:t>
                          </m:r>
                        </m:e>
                        <m:sub>
                          <m:r>
                            <a:rPr lang="en-US" sz="1575" b="0" i="1" dirty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575" b="0" i="1" dirty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sz="1575" b="0" i="1" dirty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𝑢</m:t>
                          </m:r>
                        </m:e>
                        <m:sub>
                          <m:r>
                            <a:rPr lang="en-US" sz="1575" b="0" i="1" dirty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sz="1575" b="0" i="1" dirty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SupPr>
                        <m:e>
                          <m:r>
                            <a:rPr lang="en-US" sz="1575" b="0" i="1" dirty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𝑣</m:t>
                          </m:r>
                        </m:e>
                        <m:sub>
                          <m:r>
                            <a:rPr lang="en-US" sz="1575" b="0" i="1" dirty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1</m:t>
                          </m:r>
                        </m:sub>
                        <m:sup>
                          <m:r>
                            <a:rPr lang="en-US" sz="1575" b="0" i="1" dirty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359B0A6-8CE6-4139-9C51-78F9E022BC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4705350"/>
                <a:ext cx="4363166" cy="45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89040C47-F92A-4F59-8B28-1A9218875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968280" y="4000500"/>
            <a:ext cx="68466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08E39D5-E487-4129-8E30-483ABF8454EE}"/>
              </a:ext>
            </a:extLst>
          </p:cNvPr>
          <p:cNvSpPr>
            <a:spLocks noGrp="1"/>
          </p:cNvSpPr>
          <p:nvPr/>
        </p:nvSpPr>
        <p:spPr>
          <a:xfrm>
            <a:off x="6158779" y="3924300"/>
            <a:ext cx="536313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Sinkhorn </a:t>
            </a: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平衡化：降低货币面值尺度对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SVD </a:t>
            </a: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的干扰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F2B1B1-4400-4D41-8CA7-78F7BD6CA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905501" y="3048000"/>
            <a:ext cx="68466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D07BB61-8648-4A13-BD12-8EC6647EE839}"/>
              </a:ext>
            </a:extLst>
          </p:cNvPr>
          <p:cNvSpPr>
            <a:spLocks noGrp="1"/>
          </p:cNvSpPr>
          <p:nvPr/>
        </p:nvSpPr>
        <p:spPr>
          <a:xfrm>
            <a:off x="6096000" y="2971800"/>
            <a:ext cx="536313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秩一近似：提取无套利主结构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DE18B22-99F1-4285-94C0-3E7C22894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905501" y="4953000"/>
            <a:ext cx="68466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D8070CE-1441-4B94-86E9-84E912041809}"/>
              </a:ext>
            </a:extLst>
          </p:cNvPr>
          <p:cNvSpPr>
            <a:spLocks noGrp="1"/>
          </p:cNvSpPr>
          <p:nvPr/>
        </p:nvSpPr>
        <p:spPr>
          <a:xfrm>
            <a:off x="6096000" y="4876800"/>
            <a:ext cx="536313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残差排序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：|</a:t>
            </a: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ΔR_ij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| </a:t>
            </a: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越大，越可能是局部错价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6D5E54-78C9-4C04-8FAB-D13139806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48" y="5657850"/>
            <a:ext cx="10287001" cy="685800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67EC2F9-811D-4F91-97B6-EA0C9A264F32}"/>
              </a:ext>
            </a:extLst>
          </p:cNvPr>
          <p:cNvSpPr>
            <a:spLocks noGrp="1"/>
          </p:cNvSpPr>
          <p:nvPr/>
        </p:nvSpPr>
        <p:spPr>
          <a:xfrm>
            <a:off x="914398" y="5657850"/>
            <a:ext cx="9968755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Aptos"/>
              </a:rPr>
              <a:t>SVD </a:t>
            </a:r>
            <a:r>
              <a:rPr sz="24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Aptos"/>
              </a:rPr>
              <a:t>视角</a:t>
            </a:r>
            <a:r>
              <a:rPr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Aptos"/>
              </a:rPr>
              <a:t>：</a:t>
            </a:r>
            <a:r>
              <a:rPr lang="zh-CN" altLang="en-US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Aptos"/>
              </a:rPr>
              <a:t>汇率矩阵 </a:t>
            </a:r>
            <a:r>
              <a:rPr lang="en-US" altLang="zh-CN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Aptos"/>
              </a:rPr>
              <a:t>=</a:t>
            </a:r>
            <a:r>
              <a:rPr lang="zh-CN" altLang="en-US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Aptos"/>
              </a:rPr>
              <a:t> 无套利机会秩</a:t>
            </a:r>
            <a:r>
              <a:rPr lang="en-US" altLang="zh-CN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Aptos"/>
              </a:rPr>
              <a:t>1</a:t>
            </a:r>
            <a:r>
              <a:rPr lang="zh-CN" altLang="en-US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Aptos"/>
              </a:rPr>
              <a:t>矩阵 </a:t>
            </a:r>
            <a:r>
              <a:rPr lang="en-US" altLang="zh-CN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Aptos"/>
              </a:rPr>
              <a:t>+</a:t>
            </a:r>
            <a:r>
              <a:rPr lang="zh-CN" altLang="en-US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Aptos"/>
              </a:rPr>
              <a:t> 残差</a:t>
            </a:r>
            <a:endParaRPr sz="24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ea typeface="华文中宋" panose="02010600040101010101" pitchFamily="2" charset="-122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505316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ACC13E1-F3AD-4AE1-B5CF-8106268C40F4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MATRIX PRUNING + GRAPH SEARCH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B6C4EB-A223-4564-8D30-5AE7B448B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D73095-FC6A-4D8D-B4B1-A383ADD7F252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2BD31F-1760-4864-B357-7E4636805A35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创新二：Lap 对数势能残差刻画“真正产生套利”的部分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C6661F-85A4-4C7E-9782-EB3A695F453E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取对数后，无套利汇率应该是顶点势能差；闭合环上的势能差会完全抵消。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64D63E-B7C4-4B2D-B044-DA0C15D40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58102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D237E0-8913-45FB-8D20-3EE0D5DFF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49" y="1847850"/>
            <a:ext cx="81073" cy="6286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1EA14A2-CFB9-40F1-BCD8-D1C96AB6442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1549" y="1981200"/>
                <a:ext cx="5242737" cy="3619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80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𝑀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𝑖𝑗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func>
                        <m:funcPr>
                          <m:ctrlPr>
                            <a:rPr lang="en-US" altLang="zh-CN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i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𝑖𝑗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1EA14A2-CFB9-40F1-BCD8-D1C96AB644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49" y="1981200"/>
                <a:ext cx="5242737" cy="361950"/>
              </a:xfrm>
              <a:prstGeom prst="rect">
                <a:avLst/>
              </a:prstGeom>
              <a:blipFill>
                <a:blip r:embed="rId3"/>
                <a:stretch>
                  <a:fillRect t="-13793" b="-24138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195A2088-F853-472C-B728-197438038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58102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25CD20-045C-4644-B2E8-4C20C9019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49" y="2686050"/>
            <a:ext cx="81073" cy="6286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0952278-7143-4249-BE2F-CD2A838CBD9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1549" y="2819400"/>
                <a:ext cx="5242737" cy="3619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65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165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𝑖𝑗</m:t>
                              </m:r>
                            </m:sub>
                          </m:sSub>
                        </m:e>
                      </m:acc>
                      <m:r>
                        <a:rPr lang="en-US" altLang="zh-CN" sz="165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sSub>
                        <m:sSubPr>
                          <m:ctrlP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𝑗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−</m:t>
                      </m:r>
                      <m:sSub>
                        <m:sSubPr>
                          <m:ctrlP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0952278-7143-4249-BE2F-CD2A838CBD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49" y="2819400"/>
                <a:ext cx="5242737" cy="361950"/>
              </a:xfrm>
              <a:prstGeom prst="rect">
                <a:avLst/>
              </a:prstGeom>
              <a:blipFill>
                <a:blip r:embed="rId4"/>
                <a:stretch>
                  <a:fillRect t="-6667" b="-16667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0C138D0A-FE09-4EBA-B3C5-C28C5D889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5810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5E2D6B-8A32-4C7E-8912-AED16CAD6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60106" cy="6858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0455049-DCD4-4234-9D16-A7A33F9E565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1550" y="3657600"/>
                <a:ext cx="5389508" cy="419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65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sz="165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dPr>
                            <m:e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𝑖</m:t>
                              </m:r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,</m:t>
                              </m:r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∈</m:t>
                          </m:r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𝐶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6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165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=0</m:t>
                      </m:r>
                    </m:oMath>
                  </m:oMathPara>
                </a14:m>
                <a:endParaRPr sz="1650" b="0" dirty="0">
                  <a:solidFill>
                    <a:srgbClr val="0F172A"/>
                  </a:solidFill>
                  <a:latin typeface="Aptos Mono"/>
                  <a:ea typeface="Aptos Mono"/>
                  <a:cs typeface="Aptos Mono"/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0455049-DCD4-4234-9D16-A7A33F9E5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3657600"/>
                <a:ext cx="5389508" cy="419100"/>
              </a:xfrm>
              <a:prstGeom prst="rect">
                <a:avLst/>
              </a:prstGeom>
              <a:blipFill>
                <a:blip r:embed="rId5"/>
                <a:stretch>
                  <a:fillRect t="-247059" b="-317647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>
            <a:extLst>
              <a:ext uri="{FF2B5EF4-FFF2-40B4-BE49-F238E27FC236}">
                <a16:creationId xmlns:a16="http://schemas.microsoft.com/office/drawing/2014/main" id="{27BB44F0-E110-4584-AF3A-2C80DB85C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50" y="4438650"/>
            <a:ext cx="5810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F443ED-73C1-42E5-9F00-530E88CCE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50" y="4438650"/>
            <a:ext cx="57150" cy="685800"/>
          </a:xfrm>
          <a:prstGeom prst="rect">
            <a:avLst/>
          </a:prstGeom>
          <a:solidFill>
            <a:srgbClr val="E11D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742BE8CB-EB74-4252-A822-A7618F8F4A5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1550" y="4572000"/>
                <a:ext cx="5410200" cy="419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65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5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𝑖𝑗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sSub>
                        <m:sSubPr>
                          <m:ctrlP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𝑖𝑗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−</m:t>
                      </m:r>
                      <m:d>
                        <m:dPr>
                          <m:ctrlP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16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6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742BE8CB-EB74-4252-A822-A7618F8F4A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4572000"/>
                <a:ext cx="5410200" cy="419100"/>
              </a:xfrm>
              <a:prstGeom prst="rect">
                <a:avLst/>
              </a:prstGeom>
              <a:blipFill>
                <a:blip r:embed="rId6"/>
                <a:stretch>
                  <a:fillRect b="-8824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62486810-05DC-4FDD-89E8-AF8676C10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239000" y="2974074"/>
            <a:ext cx="5715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D96C05A-C4F7-46E3-BBC0-2F4340678483}"/>
              </a:ext>
            </a:extLst>
          </p:cNvPr>
          <p:cNvSpPr>
            <a:spLocks noGrp="1"/>
          </p:cNvSpPr>
          <p:nvPr/>
        </p:nvSpPr>
        <p:spPr>
          <a:xfrm>
            <a:off x="7429500" y="2897874"/>
            <a:ext cx="3714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用最小二乘拟合无套利势能场 y。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C7B9A24-403B-4488-A238-3B6501DF4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239000" y="3781000"/>
            <a:ext cx="5715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4FC0D3D-9082-487B-B703-258AE62944F5}"/>
              </a:ext>
            </a:extLst>
          </p:cNvPr>
          <p:cNvSpPr>
            <a:spLocks noGrp="1"/>
          </p:cNvSpPr>
          <p:nvPr/>
        </p:nvSpPr>
        <p:spPr>
          <a:xfrm>
            <a:off x="7429500" y="3704800"/>
            <a:ext cx="3714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完全图下解析解：y_k</a:t>
            </a:r>
            <a:r>
              <a:rPr sz="135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= (1/N)</a:t>
            </a:r>
            <a:r>
              <a:rPr sz="135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Σ_j</a:t>
            </a:r>
            <a:r>
              <a:rPr sz="135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M_jk</a:t>
            </a:r>
            <a:r>
              <a:rPr sz="135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D2D87B-09BA-44AF-A5C2-70DE12885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239000" y="4763069"/>
            <a:ext cx="60106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67186B7-B2A6-4B1E-A238-F5614B4A8047}"/>
              </a:ext>
            </a:extLst>
          </p:cNvPr>
          <p:cNvSpPr>
            <a:spLocks noGrp="1"/>
          </p:cNvSpPr>
          <p:nvPr/>
        </p:nvSpPr>
        <p:spPr>
          <a:xfrm>
            <a:off x="7429500" y="4686869"/>
            <a:ext cx="3714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残差 A_ij 表示汇率无法被全局势能解释的部分。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0C96AC5-62C1-4EF8-8D55-CD3C39D96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49" y="5505450"/>
            <a:ext cx="4000500" cy="685800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B7FA0A-9CB8-4CBF-B689-AFCD0158E7F9}"/>
              </a:ext>
            </a:extLst>
          </p:cNvPr>
          <p:cNvSpPr>
            <a:spLocks noGrp="1"/>
          </p:cNvSpPr>
          <p:nvPr/>
        </p:nvSpPr>
        <p:spPr>
          <a:xfrm>
            <a:off x="914399" y="5638800"/>
            <a:ext cx="3657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Lap </a:t>
            </a:r>
            <a:r>
              <a:rPr sz="160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视角：残差才是闭合环套利来源</a:t>
            </a:r>
            <a:r>
              <a:rPr sz="16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55359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47D2B0C-18CF-41D2-BD38-926D783EFA91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MATRIX PRUNING + GRAPH SEARCH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BA0027-AAA2-4A3B-A872-7DFDDC52F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FB7414-CF12-4B8D-B316-126F3C5166C4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288358-E547-4327-8F51-3D31FF57BEC2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创新三：剪的是热点节点，不是直接剪边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029CD6-95BC-4997-8A20-570401EE877F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套利回路是整体结构，局部微亏边可能是高收益环的必要过桥边。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D092B2-0E5F-46F5-8692-B33619DDA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3450" y="2095500"/>
            <a:ext cx="20002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4FAD3B-7BBB-4CF1-8588-E77A76B0C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3450" y="2095500"/>
            <a:ext cx="200025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B0A66F-679E-4973-B932-4DCEF3C20179}"/>
              </a:ext>
            </a:extLst>
          </p:cNvPr>
          <p:cNvSpPr>
            <a:spLocks noGrp="1"/>
          </p:cNvSpPr>
          <p:nvPr/>
        </p:nvSpPr>
        <p:spPr>
          <a:xfrm>
            <a:off x="1066800" y="2247900"/>
            <a:ext cx="1733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高残差边排序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35EAB6-717A-4398-8B2E-66A774935E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714750" y="2095500"/>
            <a:ext cx="2190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2F06F1-2C85-471B-A8C5-42629CDDF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714750" y="2095500"/>
            <a:ext cx="2190750" cy="571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3A49460-6F39-4751-85F1-E1DB415A75D4}"/>
              </a:ext>
            </a:extLst>
          </p:cNvPr>
          <p:cNvSpPr>
            <a:spLocks noGrp="1"/>
          </p:cNvSpPr>
          <p:nvPr/>
        </p:nvSpPr>
        <p:spPr>
          <a:xfrm>
            <a:off x="3848100" y="2247900"/>
            <a:ext cx="1924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收集端点</a:t>
            </a:r>
          </a:p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形成热点节点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83717F-B9E7-4F47-A7A3-570688A3A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686550" y="2095500"/>
            <a:ext cx="2190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90828F-3E06-453F-9350-D5E137FF8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686550" y="2095500"/>
            <a:ext cx="2190750" cy="571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31BCCCA-07BC-4425-9C6C-E9F96F5AB30F}"/>
              </a:ext>
            </a:extLst>
          </p:cNvPr>
          <p:cNvSpPr>
            <a:spLocks noGrp="1"/>
          </p:cNvSpPr>
          <p:nvPr/>
        </p:nvSpPr>
        <p:spPr>
          <a:xfrm>
            <a:off x="6819900" y="2247900"/>
            <a:ext cx="1924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保留节点间</a:t>
            </a:r>
          </a:p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全部原始边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1C7C926-0A32-4045-8128-BC4CCDA87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658350" y="2095500"/>
            <a:ext cx="20002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32C1C7E-2B99-4FC3-95E5-9CCEDCF37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658350" y="2095500"/>
            <a:ext cx="2000250" cy="57150"/>
          </a:xfrm>
          <a:prstGeom prst="rect">
            <a:avLst/>
          </a:prstGeom>
          <a:solidFill>
            <a:srgbClr val="E11D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36E5189-EA08-4DF5-B235-A9006EFD3CAC}"/>
              </a:ext>
            </a:extLst>
          </p:cNvPr>
          <p:cNvSpPr>
            <a:spLocks noGrp="1"/>
          </p:cNvSpPr>
          <p:nvPr/>
        </p:nvSpPr>
        <p:spPr>
          <a:xfrm>
            <a:off x="9791700" y="2247900"/>
            <a:ext cx="1733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诱导子图中</a:t>
            </a:r>
          </a:p>
          <a:p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DFS 精确搜索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5AF5597-C2AF-4B99-A6AF-8EE2196C48BF}"/>
              </a:ext>
            </a:extLst>
          </p:cNvPr>
          <p:cNvSpPr>
            <a:spLocks noGrp="1"/>
          </p:cNvSpPr>
          <p:nvPr/>
        </p:nvSpPr>
        <p:spPr>
          <a:xfrm>
            <a:off x="3105150" y="2305050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AA63799-8236-4639-A6AE-E836A2DCED98}"/>
              </a:ext>
            </a:extLst>
          </p:cNvPr>
          <p:cNvSpPr>
            <a:spLocks noGrp="1"/>
          </p:cNvSpPr>
          <p:nvPr/>
        </p:nvSpPr>
        <p:spPr>
          <a:xfrm>
            <a:off x="6096000" y="2305050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E64662-CB0F-4F56-838A-AF470DCCE584}"/>
              </a:ext>
            </a:extLst>
          </p:cNvPr>
          <p:cNvSpPr>
            <a:spLocks noGrp="1"/>
          </p:cNvSpPr>
          <p:nvPr/>
        </p:nvSpPr>
        <p:spPr>
          <a:xfrm>
            <a:off x="9067800" y="2305050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96D2D9F-01F9-4FCF-AE28-A13548069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3390900"/>
            <a:ext cx="5905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489B0B4-20FF-458E-9486-06F480026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3390900"/>
            <a:ext cx="57150" cy="6667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D27D6B15-F414-4E4E-84ED-BE40ABDFCA5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43000" y="3524250"/>
                <a:ext cx="5505450" cy="4000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35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𝑚</m:t>
                          </m:r>
                        </m:sub>
                      </m:sSub>
                      <m:r>
                        <a:rPr lang="en-US" altLang="zh-CN" sz="135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func>
                        <m:funcPr>
                          <m:ctrlP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TopNodes</m:t>
                              </m:r>
                            </m:e>
                            <m:sub>
                              <m: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𝑚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dPr>
                            <m:e>
                              <m:r>
                                <m:rPr>
                                  <m:lit/>
                                </m:rP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{</m:t>
                              </m:r>
                              <m:d>
                                <m:dPr>
                                  <m:ctrlPr>
                                    <a:rPr lang="en-US" altLang="zh-CN" sz="13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3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𝑖</m:t>
                                  </m:r>
                                  <m:r>
                                    <a:rPr lang="en-US" altLang="zh-CN" sz="13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,</m:t>
                                  </m:r>
                                  <m:r>
                                    <a:rPr lang="en-US" altLang="zh-CN" sz="13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zh-CN" altLang="en-US" sz="1350" b="0" i="1" smtClean="0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｜</m:t>
                              </m:r>
                              <m:sSub>
                                <m:sSubPr>
                                  <m:ctrlPr>
                                    <a:rPr lang="en-US" altLang="zh-CN" sz="13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3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1350" i="1">
                                      <a:solidFill>
                                        <a:srgbClr val="0F172A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 </m:t>
                              </m:r>
                              <m:r>
                                <m:rPr>
                                  <m:nor/>
                                </m:rPr>
                                <a:rPr lang="en-US" altLang="zh-CN" sz="1350" i="0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large</m:t>
                              </m:r>
                              <m:r>
                                <m:rPr>
                                  <m:lit/>
                                </m:rP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}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D27D6B15-F414-4E4E-84ED-BE40ABDFCA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3524250"/>
                <a:ext cx="5505450" cy="400050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>
            <a:extLst>
              <a:ext uri="{FF2B5EF4-FFF2-40B4-BE49-F238E27FC236}">
                <a16:creationId xmlns:a16="http://schemas.microsoft.com/office/drawing/2014/main" id="{DB68A3CA-C11E-40FA-BFB6-68FFAEDFE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4305300"/>
            <a:ext cx="5905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658A22D-BA4B-4999-A8CC-915F20585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4305300"/>
            <a:ext cx="45719" cy="6667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224BC2FC-E0CF-419A-8518-9032267DE75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43000" y="4438650"/>
                <a:ext cx="5603023" cy="4000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35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𝐺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sz="135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d>
                        <m:dPr>
                          <m:ctrlP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,</m:t>
                          </m:r>
                          <m:r>
                            <m:rPr>
                              <m:lit/>
                            </m:rP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{</m:t>
                          </m:r>
                          <m:d>
                            <m:dPr>
                              <m:ctrlP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dPr>
                            <m:e>
                              <m: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𝑖</m:t>
                              </m:r>
                              <m: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,</m:t>
                              </m:r>
                              <m: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∈</m:t>
                          </m:r>
                          <m: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𝐸</m:t>
                          </m:r>
                          <m:r>
                            <a:rPr lang="zh-CN" altLang="en-US" sz="1350" b="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｜</m:t>
                          </m:r>
                          <m: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𝑖</m:t>
                          </m:r>
                          <m: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,</m:t>
                          </m:r>
                          <m: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𝑗</m:t>
                          </m:r>
                          <m: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135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𝑚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altLang="zh-CN" sz="135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224BC2FC-E0CF-419A-8518-9032267DE7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4438650"/>
                <a:ext cx="5603023" cy="400050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矩形 27">
            <a:extLst>
              <a:ext uri="{FF2B5EF4-FFF2-40B4-BE49-F238E27FC236}">
                <a16:creationId xmlns:a16="http://schemas.microsoft.com/office/drawing/2014/main" id="{17C1E9BB-D586-4565-B3B3-F07B2F197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619999" y="3393948"/>
            <a:ext cx="3675889" cy="1665732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B554470-6F46-415C-8415-20A010792347}"/>
              </a:ext>
            </a:extLst>
          </p:cNvPr>
          <p:cNvSpPr>
            <a:spLocks noGrp="1"/>
          </p:cNvSpPr>
          <p:nvPr/>
        </p:nvSpPr>
        <p:spPr>
          <a:xfrm>
            <a:off x="7803184" y="3628644"/>
            <a:ext cx="3308300" cy="106421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6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保环性质</a:t>
            </a:r>
            <a:r>
              <a:rPr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：</a:t>
            </a:r>
            <a:endParaRPr 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Aptos"/>
              <a:ea typeface="Aptos"/>
              <a:cs typeface="Aptos"/>
            </a:endParaRPr>
          </a:p>
          <a:p>
            <a:pPr algn="l">
              <a:defRPr sz="12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6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若完整套利环的节点都进入</a:t>
            </a:r>
            <a:r>
              <a:rPr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H</a:t>
            </a:r>
            <a:r>
              <a:rPr lang="en-US" altLang="zh-CN" sz="1600" b="1" baseline="-25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m</a:t>
            </a:r>
            <a:r>
              <a:rPr sz="16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，则该环不会被边剪枝切断</a:t>
            </a:r>
            <a:r>
              <a:rPr sz="1275" b="1" dirty="0">
                <a:solidFill>
                  <a:srgbClr val="E11D48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99183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62298D5-C084-47BA-9019-0C356F522124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MATRIX PRUNING + GRAPH SEARCH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3D04B7-745C-4EAB-AEB3-0C10E4C48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A624C9-7650-40CF-A141-5E1D821CCCFA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6E0812-8EC5-4977-9540-95B6D10D14E0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实验评价：小规模用真实最优，大规模用理论基准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718609-AAAA-4C51-98A2-0C28E507B252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大规模无法全图 DFS，因此不能只报告一个孤立收益数字。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7A302B-FEEB-486C-B05F-4E1601D4B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62000" y="1752600"/>
            <a:ext cx="10668000" cy="3619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32778" y="1847850"/>
            <a:ext cx="7126445" cy="34290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5634A4C-CEBE-4B5C-9CC7-67BF6E75A863}"/>
              </a:ext>
            </a:extLst>
          </p:cNvPr>
          <p:cNvSpPr>
            <a:spLocks noGrp="1"/>
          </p:cNvSpPr>
          <p:nvPr/>
        </p:nvSpPr>
        <p:spPr>
          <a:xfrm>
            <a:off x="590550" y="5500437"/>
            <a:ext cx="1066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评价口径：小规模 Method/Base，大规模 Method/Theory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D66252-E03A-433E-B23F-41BD43E1B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62000" y="5791200"/>
            <a:ext cx="5105219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0F0B75-1DD1-497A-AAB7-93B4650B0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61999" y="5791200"/>
            <a:ext cx="56385" cy="9334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9FF3C03-5AF0-4DD0-8494-4392C06D31A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90600" y="5924549"/>
                <a:ext cx="4889938" cy="800101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275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𝜌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600" i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small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CN" sz="1600" i="0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method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CN" sz="1600" i="0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base</m:t>
                              </m:r>
                            </m:sub>
                          </m:sSub>
                        </m:den>
                      </m:f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  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𝜌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600" i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large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CN" sz="1600" i="0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method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CN" sz="1600" i="0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theory</m:t>
                              </m:r>
                              <m: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≤</m:t>
                              </m:r>
                              <m:r>
                                <a:rPr lang="en-US" altLang="zh-CN" sz="1600" i="1">
                                  <a:solidFill>
                                    <a:srgbClr val="0F172A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9FF3C03-5AF0-4DD0-8494-4392C06D31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924549"/>
                <a:ext cx="4889938" cy="8001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A8FF1CC7-6F8D-8677-0295-105608F34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305473" y="5801226"/>
            <a:ext cx="5105219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832FD44-A9FA-C6F2-6FF8-5DC0C50E8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305472" y="5801226"/>
            <a:ext cx="56385" cy="9334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C9ADCBC-1D22-46FE-D4E9-6FAB54B4A2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064" y="5805237"/>
            <a:ext cx="418333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745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B8F98E0-57B4-4699-9277-7CBF28909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5345EC-732B-45DC-9894-85C8697438DB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EXPERIMENT A / SMALL SCALE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BF8C37-260D-4CC1-9406-73F39341B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D0A6B3-7888-4327-B847-780278B33514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6B4888-B5E0-4D79-B931-F942ABC3E248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实验 A：小规模下检验剪枝后收益保留比例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5928BE-0145-4431-9A8A-0F0033CD10C7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N=8,10 可运行全图 DFS，因此可以直接比较 MethodProfit / BaseProfit。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C8CC09-EA1A-450E-A15B-E724D8BC7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1074420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21004" y="1866900"/>
            <a:ext cx="7149992" cy="37147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54CB365-E0CE-4E78-BD77-8BDE648B8C57}"/>
              </a:ext>
            </a:extLst>
          </p:cNvPr>
          <p:cNvSpPr>
            <a:spLocks noGrp="1"/>
          </p:cNvSpPr>
          <p:nvPr/>
        </p:nvSpPr>
        <p:spPr>
          <a:xfrm>
            <a:off x="723900" y="5772150"/>
            <a:ext cx="10744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实验 A 收益比例：有 Trap 时热点信号集中，8 节点诱导子图保留率更高。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3FEE2E-DE82-40C0-BAF0-AD25DD443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23900" y="6076950"/>
            <a:ext cx="10744200" cy="685800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2E92A7-B045-416F-9837-424E45E50D94}"/>
              </a:ext>
            </a:extLst>
          </p:cNvPr>
          <p:cNvSpPr>
            <a:spLocks noGrp="1"/>
          </p:cNvSpPr>
          <p:nvPr/>
        </p:nvSpPr>
        <p:spPr>
          <a:xfrm>
            <a:off x="933367" y="6210300"/>
            <a:ext cx="103237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Lap-8Node / SVD-8Node </a:t>
            </a:r>
            <a:r>
              <a:rPr sz="16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在强套利结构下更接近全图最优</a:t>
            </a:r>
            <a:r>
              <a:rPr sz="1275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92238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D32EBA1-8FF4-4009-AADA-1A56C40A9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830A3F-24B7-4EC9-B25B-2AD9F05BC3A0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EXPERIMENT A / SMALL SCALE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04852B-3EA9-4DE4-ACAA-FBE1C217A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8F72A8-CFB0-48CF-840D-D3EA40C02D36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4AFB3C-7313-41D0-8CB8-14C71F4F8E8C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实验 A：剪枝把小规模搜索压到毫秒级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3B27C3-6795-4569-A1E2-543E192EC5E7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即使 N=10 的全图 DFS 已超过 1 秒，m=6 或 m=8 的诱导子图仍可快速搜索。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53EAAE-4F59-43E5-A966-409ED7771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1074420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12625" y="1866900"/>
            <a:ext cx="7166749" cy="37147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C94DA8A-83D1-4505-B919-64048F725BA7}"/>
              </a:ext>
            </a:extLst>
          </p:cNvPr>
          <p:cNvSpPr>
            <a:spLocks noGrp="1"/>
          </p:cNvSpPr>
          <p:nvPr/>
        </p:nvSpPr>
        <p:spPr>
          <a:xfrm>
            <a:off x="723900" y="5772150"/>
            <a:ext cx="10744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实验 A 耗时：剪枝后 DFS 规模由 N 降到 m，运行时间显著下降。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528C86-7CD9-4485-9111-0569DB844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171700" y="6076950"/>
            <a:ext cx="7810500" cy="685800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E4EA03D-3D2A-4FD2-A57F-5F1FE57417A3}"/>
              </a:ext>
            </a:extLst>
          </p:cNvPr>
          <p:cNvSpPr>
            <a:spLocks noGrp="1"/>
          </p:cNvSpPr>
          <p:nvPr/>
        </p:nvSpPr>
        <p:spPr>
          <a:xfrm>
            <a:off x="2343150" y="6038850"/>
            <a:ext cx="7467600" cy="7696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Lap-6Node </a:t>
            </a:r>
            <a:r>
              <a:rPr sz="160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约</a:t>
            </a:r>
            <a:r>
              <a:rPr sz="16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 0.4 </a:t>
            </a:r>
            <a:r>
              <a:rPr sz="160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ms；Lap</a:t>
            </a:r>
            <a:r>
              <a:rPr sz="16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/SVD-8Node </a:t>
            </a:r>
            <a:r>
              <a:rPr sz="160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约</a:t>
            </a:r>
            <a:r>
              <a:rPr sz="16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 18 </a:t>
            </a:r>
            <a:r>
              <a:rPr sz="1600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ms</a:t>
            </a:r>
            <a:r>
              <a:rPr sz="160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6417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BEBF57E-7ECC-4487-8076-989233532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83F729-381D-4FB0-9A31-1CC05868CBBD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EXPERIMENT B / LARGE SCALE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56222B-9EA5-449F-A06F-D54BE2FD3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FBBFA0-642B-4BDF-A2AE-5545C1F3A48D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23E156-54FE-4615-B9B3-280B1514820F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实验 B：大规模下与理论收益基准比较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C39F2-A34D-4581-A4BA-DAF0370415DB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N=50,100,200 无法求全图最优，因此用随机极值理论给出参考收益。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90EDA2-C6C8-4831-A377-B08797223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1074420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03864" y="1866900"/>
            <a:ext cx="7184272" cy="37147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D9C116C-C520-44BB-83D0-89E857BA513B}"/>
              </a:ext>
            </a:extLst>
          </p:cNvPr>
          <p:cNvSpPr>
            <a:spLocks noGrp="1"/>
          </p:cNvSpPr>
          <p:nvPr/>
        </p:nvSpPr>
        <p:spPr>
          <a:xfrm>
            <a:off x="723900" y="5772150"/>
            <a:ext cx="10744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实验 B 收益比例：Trap=True 时多数组合达到理论参考约 81% 到 87%。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B2086A-7610-4BAF-9FAD-DB6425337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62100" y="6076950"/>
            <a:ext cx="9048750" cy="685800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33DA97-C3CA-4256-B442-3813907C16B9}"/>
              </a:ext>
            </a:extLst>
          </p:cNvPr>
          <p:cNvSpPr>
            <a:spLocks noGrp="1"/>
          </p:cNvSpPr>
          <p:nvPr/>
        </p:nvSpPr>
        <p:spPr>
          <a:xfrm>
            <a:off x="1733550" y="6038850"/>
            <a:ext cx="87058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6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强局部套利结构会被矩阵残差稳定捕捉；无</a:t>
            </a:r>
            <a:r>
              <a:rPr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 Trap </a:t>
            </a:r>
            <a:r>
              <a:rPr sz="16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时最优环更分散</a:t>
            </a:r>
            <a:r>
              <a:rPr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91394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13800EB-8159-4178-8777-956742E94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F0C4EB-7532-4B0F-BC9F-A3134D35AB84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EXPERIMENT B / LARGE SCALE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C7B814-68D6-4D55-A0D6-4E9CCD23D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A8E4D1-EA2B-4333-A764-70D0107A7049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BDB3A0-7FF3-4241-88A6-B8C77B346723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实验 B：全图 DFS 不可计算，剪枝算法仍稳定毫秒级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47B042-CBB0-45E3-B042-6B2C4B04F48A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大规模场景中，速度优势来自诱导子图规模固定在 6 或 8 个节点。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1D7302-66AC-436E-B020-9FE257979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1074420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08095" y="1866900"/>
            <a:ext cx="7175810" cy="37147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753D9D2-7572-4EDB-91CF-6CED36D7DED4}"/>
              </a:ext>
            </a:extLst>
          </p:cNvPr>
          <p:cNvSpPr>
            <a:spLocks noGrp="1"/>
          </p:cNvSpPr>
          <p:nvPr/>
        </p:nvSpPr>
        <p:spPr>
          <a:xfrm>
            <a:off x="723900" y="5772150"/>
            <a:ext cx="10744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实验 B 耗时：N 继续增大时，剪枝后的搜索规模基本不随全图规模爆炸。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6D16A1-A8AB-46EA-83A9-8D03186C0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04950" y="6076950"/>
            <a:ext cx="9144000" cy="685800"/>
          </a:xfrm>
          <a:prstGeom prst="rect">
            <a:avLst/>
          </a:prstGeom>
          <a:solidFill>
            <a:srgbClr val="F0FDFA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8F1A078-578E-4B6C-BD89-6B30F69DA3F0}"/>
              </a:ext>
            </a:extLst>
          </p:cNvPr>
          <p:cNvSpPr>
            <a:spLocks noGrp="1"/>
          </p:cNvSpPr>
          <p:nvPr/>
        </p:nvSpPr>
        <p:spPr>
          <a:xfrm>
            <a:off x="1676400" y="6038850"/>
            <a:ext cx="8801100" cy="7696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6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BaseTimeEst</a:t>
            </a:r>
            <a:r>
              <a:rPr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已是天文级；剪枝方法仍然实际运行并保持毫秒级</a:t>
            </a:r>
            <a:r>
              <a:rPr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00846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F9300FA-D80E-43D1-9977-8CD34ABA25AF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MATRIX PRUNING + GRAPH SEARCH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8CF639-45C1-4A42-AEDB-8A1EE85D9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0B11AC-7628-4613-A0DA-568CDC30FDDD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A95F90-DD1D-4784-83C3-AE16A4631D17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结果综合：速度优势明确，收益质量取决于信号集中度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335822-6E70-461D-BBCF-59F9925D4094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Lap 和 SVD 是互补的矩阵视角；诱导子图是保留回路结构的关键。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DFA223-48E2-4D30-9B0C-041E5ABEA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50" y="1981200"/>
            <a:ext cx="2381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06D06A-17DB-40D2-829C-68E20D621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42950" y="1981200"/>
            <a:ext cx="238125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DFD76C-12C6-4930-B6CB-26BBBEF775F9}"/>
              </a:ext>
            </a:extLst>
          </p:cNvPr>
          <p:cNvSpPr>
            <a:spLocks noGrp="1"/>
          </p:cNvSpPr>
          <p:nvPr/>
        </p:nvSpPr>
        <p:spPr>
          <a:xfrm>
            <a:off x="895350" y="217170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Lap-6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1E67A0-8722-420A-951E-EC45A3A52857}"/>
              </a:ext>
            </a:extLst>
          </p:cNvPr>
          <p:cNvSpPr>
            <a:spLocks noGrp="1"/>
          </p:cNvSpPr>
          <p:nvPr/>
        </p:nvSpPr>
        <p:spPr>
          <a:xfrm>
            <a:off x="895350" y="250507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最快：约 0.4 ms，但剪枝更深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6F432C-E6D8-4F78-ACCB-51C941AE2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409950" y="1981200"/>
            <a:ext cx="2381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BB65E8-8080-4A28-A408-1E1E8EDAE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409950" y="1981200"/>
            <a:ext cx="23812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5EBFE7-864F-4F4C-91FE-7235C3A5B9E7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Lap-8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271B36-92C4-4038-8B48-AB53BBE51563}"/>
              </a:ext>
            </a:extLst>
          </p:cNvPr>
          <p:cNvSpPr>
            <a:spLocks noGrp="1"/>
          </p:cNvSpPr>
          <p:nvPr/>
        </p:nvSpPr>
        <p:spPr>
          <a:xfrm>
            <a:off x="3562350" y="250507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图结构视角更稳定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6D79940-1798-43DF-B4CE-049A54019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076950" y="1981200"/>
            <a:ext cx="2381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B0C3AA-6F29-4BCD-AB83-8990CB3ED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076950" y="1981200"/>
            <a:ext cx="238125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48BB1D-8046-4BC5-9AB2-F95BB26E71BD}"/>
              </a:ext>
            </a:extLst>
          </p:cNvPr>
          <p:cNvSpPr>
            <a:spLocks noGrp="1"/>
          </p:cNvSpPr>
          <p:nvPr/>
        </p:nvSpPr>
        <p:spPr>
          <a:xfrm>
            <a:off x="6229350" y="217170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SVD-8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2B37F96-BDB5-4D38-B1FF-7D31BED52245}"/>
              </a:ext>
            </a:extLst>
          </p:cNvPr>
          <p:cNvSpPr>
            <a:spLocks noGrp="1"/>
          </p:cNvSpPr>
          <p:nvPr/>
        </p:nvSpPr>
        <p:spPr>
          <a:xfrm>
            <a:off x="6229350" y="250507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矩阵主成分视角，部分大规模接近或略优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35D113B-02AB-42AE-8B68-7B9960B18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743950" y="1981200"/>
            <a:ext cx="2381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45BB5A5-D07A-495C-A90E-60FB5C664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743950" y="1981200"/>
            <a:ext cx="2381250" cy="47625"/>
          </a:xfrm>
          <a:prstGeom prst="rect">
            <a:avLst/>
          </a:prstGeom>
          <a:solidFill>
            <a:srgbClr val="E11D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4078A77-6C39-45C2-9C57-49161320A0C6}"/>
              </a:ext>
            </a:extLst>
          </p:cNvPr>
          <p:cNvSpPr>
            <a:spLocks noGrp="1"/>
          </p:cNvSpPr>
          <p:nvPr/>
        </p:nvSpPr>
        <p:spPr>
          <a:xfrm>
            <a:off x="8896350" y="217170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Trap=True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045063F-1370-498F-8DAD-66D87400B45D}"/>
              </a:ext>
            </a:extLst>
          </p:cNvPr>
          <p:cNvSpPr>
            <a:spLocks noGrp="1"/>
          </p:cNvSpPr>
          <p:nvPr/>
        </p:nvSpPr>
        <p:spPr>
          <a:xfrm>
            <a:off x="8896350" y="250507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强局部结构下通常达理论参考 81–87%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E793FA-476E-4B8C-8936-17AC46DE8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85800" y="3529263"/>
            <a:ext cx="79520" cy="50284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1AA6D0A-1ECF-4E0A-AB8E-A33908E5FAB2}"/>
              </a:ext>
            </a:extLst>
          </p:cNvPr>
          <p:cNvSpPr>
            <a:spLocks noGrp="1"/>
          </p:cNvSpPr>
          <p:nvPr/>
        </p:nvSpPr>
        <p:spPr>
          <a:xfrm>
            <a:off x="876300" y="3453063"/>
            <a:ext cx="9258300" cy="38551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速度：把</a:t>
            </a:r>
            <a:r>
              <a:rPr sz="20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DFS </a:t>
            </a:r>
            <a:r>
              <a:rPr sz="20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输入从</a:t>
            </a:r>
            <a:r>
              <a:rPr sz="20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N </a:t>
            </a:r>
            <a:r>
              <a:rPr sz="20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个节点压缩到</a:t>
            </a:r>
            <a:r>
              <a:rPr sz="20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m=6 </a:t>
            </a:r>
            <a:r>
              <a:rPr sz="20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或</a:t>
            </a:r>
            <a:r>
              <a:rPr sz="20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8</a:t>
            </a:r>
            <a:r>
              <a:rPr lang="zh-CN" altLang="en-US" sz="20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，大图从不可计算变为可计算。</a:t>
            </a:r>
            <a:endParaRPr sz="2000" b="0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8A6DCC2-2DA2-4216-BB30-813A9BE8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85800" y="4081713"/>
            <a:ext cx="79520" cy="50284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9C89BE2-6350-450F-A152-0720B88E01EE}"/>
              </a:ext>
            </a:extLst>
          </p:cNvPr>
          <p:cNvSpPr>
            <a:spLocks noGrp="1"/>
          </p:cNvSpPr>
          <p:nvPr/>
        </p:nvSpPr>
        <p:spPr>
          <a:xfrm>
            <a:off x="876300" y="4005513"/>
            <a:ext cx="9258300" cy="38551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质量：强局部套利信号更容易进入热点节点集合</a:t>
            </a:r>
            <a:r>
              <a:rPr sz="20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7107945-9C18-4904-9472-7583AC730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85800" y="4634163"/>
            <a:ext cx="79520" cy="50284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312C9A1-845A-45FC-BDF4-CF485ABBB72E}"/>
              </a:ext>
            </a:extLst>
          </p:cNvPr>
          <p:cNvSpPr>
            <a:spLocks noGrp="1"/>
          </p:cNvSpPr>
          <p:nvPr/>
        </p:nvSpPr>
        <p:spPr>
          <a:xfrm>
            <a:off x="876300" y="4557963"/>
            <a:ext cx="9258300" cy="38551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局限：启发式剪枝不保证全局最优</a:t>
            </a:r>
            <a:r>
              <a:rPr lang="zh-CN" altLang="en-US" sz="20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，无特殊结构时近似精度较差</a:t>
            </a:r>
            <a:r>
              <a:rPr sz="20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025D90A-7FE8-4942-BBCE-2415A14A4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76299" y="5210174"/>
            <a:ext cx="4740433" cy="1101177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F33E535-DD8E-4066-A855-CB987DAD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76300" y="5210174"/>
            <a:ext cx="48185" cy="1101177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35C76692-931D-4812-B91C-955C8BD1F6D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04900" y="5262812"/>
                <a:ext cx="4533900" cy="1101177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35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600" i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full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𝑁</m:t>
                          </m:r>
                        </m:e>
                      </m:d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≫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600" i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pruned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𝑚</m:t>
                          </m:r>
                        </m:e>
                      </m:d>
                      <m:r>
                        <a:rPr lang="en-US" altLang="zh-CN" sz="16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,</m:t>
                      </m:r>
                      <m:r>
                        <a:rPr lang="zh-CN" altLang="en-US" sz="1600" i="1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但是</m:t>
                      </m:r>
                      <m:r>
                        <a:rPr lang="zh-CN" altLang="en-US" sz="1600" b="0" i="1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 </m:t>
                      </m:r>
                      <m:sSubSup>
                        <m:sSubSupPr>
                          <m:ctrlP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𝑚</m:t>
                          </m:r>
                        </m:sub>
                        <m:sup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⋆</m:t>
                          </m:r>
                          <m:r>
                            <m:rPr>
                              <m:nor/>
                            </m:rPr>
                            <a:rPr lang="en-US" altLang="zh-CN" sz="1600" i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 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SupPr>
                        <m:e>
                          <m:r>
                            <a:rPr lang="zh-CN" altLang="en-US" sz="1600" b="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 </m:t>
                          </m:r>
                          <m:r>
                            <a:rPr lang="zh-CN" altLang="en-US" sz="160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可能</m:t>
                          </m:r>
                          <m:r>
                            <a:rPr lang="zh-CN" altLang="en-US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不如</m:t>
                          </m:r>
                          <m:r>
                            <a:rPr lang="zh-CN" altLang="en-US" sz="1600" b="0" i="1" smtClean="0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 </m:t>
                          </m:r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𝑁</m:t>
                          </m:r>
                        </m:sub>
                        <m:sup>
                          <m:r>
                            <a:rPr lang="en-US" altLang="zh-CN" sz="1600" i="1">
                              <a:solidFill>
                                <a:srgbClr val="0F172A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⋆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35C76692-931D-4812-B91C-955C8BD1F6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00" y="5262812"/>
                <a:ext cx="4533900" cy="11011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5639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8F885A-4CF6-4BF4-83B5-C82B10D4468B}"/>
              </a:ext>
            </a:extLst>
          </p:cNvPr>
          <p:cNvSpPr>
            <a:spLocks noGrp="1"/>
          </p:cNvSpPr>
          <p:nvPr/>
        </p:nvSpPr>
        <p:spPr>
          <a:xfrm>
            <a:off x="590550" y="304800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MATRIX PRUNING + GRAPH SEARCH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114B99-EB46-4882-A0E1-7AD6FCA7E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90550" y="628650"/>
            <a:ext cx="11010900" cy="11430"/>
          </a:xfrm>
          <a:prstGeom prst="rect">
            <a:avLst/>
          </a:prstGeom>
          <a:solidFill>
            <a:srgbClr val="E2E8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E14667-5B91-4F6C-932B-282C12C87072}"/>
              </a:ext>
            </a:extLst>
          </p:cNvPr>
          <p:cNvSpPr>
            <a:spLocks noGrp="1"/>
          </p:cNvSpPr>
          <p:nvPr/>
        </p:nvSpPr>
        <p:spPr>
          <a:xfrm>
            <a:off x="11029950" y="266700"/>
            <a:ext cx="571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75560D-3543-4197-A035-FB5EDB06B7C8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 err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结论</a:t>
            </a:r>
            <a:r>
              <a:rPr sz="2550" b="1" dirty="0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：</a:t>
            </a:r>
            <a:r>
              <a:rPr lang="zh-CN" altLang="en-US" sz="2550" b="1" dirty="0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矩阵剪枝</a:t>
            </a:r>
            <a:r>
              <a:rPr sz="2550" b="1" dirty="0" err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让图搜索变得可计算</a:t>
            </a:r>
            <a:endParaRPr sz="2550" b="1" dirty="0">
              <a:solidFill>
                <a:srgbClr val="0F17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9DC254-8DBC-4317-B71E-8BE2841316AE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952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最终</a:t>
            </a:r>
            <a:r>
              <a:rPr lang="zh-CN" altLang="en-US" sz="13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成果：</a:t>
            </a:r>
            <a:r>
              <a:rPr sz="135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一套可解释、可实验验证的“矩阵剪枝</a:t>
            </a:r>
            <a:r>
              <a:rPr sz="13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+ </a:t>
            </a:r>
            <a:r>
              <a:rPr sz="135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局部搜索”框架</a:t>
            </a:r>
            <a:r>
              <a:rPr sz="13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8759DA-911C-443F-A83B-6A18398F9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7300" y="1866900"/>
            <a:ext cx="96774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9F2868-7BC3-4850-A33C-CC7FD82BA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7300" y="1866900"/>
            <a:ext cx="57150" cy="781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35F110E-87B2-4368-8134-ECF66D3ED0D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85900" y="2000250"/>
                <a:ext cx="9277350" cy="51435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>
                  <a:defRPr sz="150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1500" i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Matrix</m:t>
                      </m:r>
                      <m:r>
                        <m:rPr>
                          <m:nor/>
                        </m:rPr>
                        <a:rPr lang="en-US" altLang="zh-CN" sz="1500" i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500" i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Residual</m:t>
                      </m:r>
                      <m:r>
                        <a:rPr lang="en-US" altLang="zh-CN" sz="15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→</m:t>
                      </m:r>
                      <m:r>
                        <m:rPr>
                          <m:nor/>
                        </m:rPr>
                        <a:rPr lang="en-US" altLang="zh-CN" sz="1500" i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Hot</m:t>
                      </m:r>
                      <m:r>
                        <m:rPr>
                          <m:nor/>
                        </m:rPr>
                        <a:rPr lang="en-US" altLang="zh-CN" sz="1500" i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500" i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Induced</m:t>
                      </m:r>
                      <m:r>
                        <m:rPr>
                          <m:nor/>
                        </m:rPr>
                        <a:rPr lang="en-US" altLang="zh-CN" sz="1500" i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500" i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Subgraph</m:t>
                      </m:r>
                      <m:r>
                        <a:rPr lang="en-US" altLang="zh-CN" sz="1500" i="1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→</m:t>
                      </m:r>
                      <m:r>
                        <m:rPr>
                          <m:nor/>
                        </m:rPr>
                        <a:rPr lang="en-US" altLang="zh-CN" sz="1500" i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Exact</m:t>
                      </m:r>
                      <m:r>
                        <m:rPr>
                          <m:nor/>
                        </m:rPr>
                        <a:rPr lang="en-US" altLang="zh-CN" sz="1500" i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500" i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DFS</m:t>
                      </m:r>
                    </m:oMath>
                  </m:oMathPara>
                </a14:m>
                <a:endParaRPr lang="en-US" altLang="zh-CN" sz="1500" i="0" dirty="0">
                  <a:solidFill>
                    <a:srgbClr val="0F172A"/>
                  </a:solidFill>
                  <a:latin typeface="Cambria Math" panose="02040503050406030204" pitchFamily="18" charset="0"/>
                  <a:ea typeface="Aptos Mono"/>
                  <a:cs typeface="Aptos Mono"/>
                </a:endParaRPr>
              </a:p>
              <a:p>
                <a:pPr>
                  <a:defRPr sz="1500" b="0">
                    <a:solidFill>
                      <a:srgbClr val="0F172A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500" dirty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矩阵</m:t>
                      </m:r>
                      <m:r>
                        <a:rPr lang="zh-CN" altLang="en-US" sz="1500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残差</m:t>
                      </m:r>
                      <m:r>
                        <a:rPr lang="zh-CN" altLang="en-US" sz="1500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→</m:t>
                      </m:r>
                      <m:r>
                        <a:rPr lang="zh-CN" altLang="en-US" sz="1500" i="1" dirty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热点</m:t>
                      </m:r>
                      <m:r>
                        <a:rPr lang="zh-CN" altLang="en-US" sz="1500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节点</m:t>
                      </m:r>
                      <m:r>
                        <a:rPr lang="zh-CN" altLang="en-US" sz="1500" i="1" dirty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导出</m:t>
                      </m:r>
                      <m:r>
                        <a:rPr lang="zh-CN" altLang="en-US" sz="1500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子图</m:t>
                      </m:r>
                      <m:r>
                        <a:rPr lang="zh-CN" altLang="en-US" sz="1500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→</m:t>
                      </m:r>
                      <m:r>
                        <a:rPr lang="zh-CN" altLang="en-US" sz="1500" i="1" dirty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常规</m:t>
                      </m:r>
                      <m:r>
                        <m:rPr>
                          <m:sty m:val="p"/>
                        </m:rPr>
                        <a:rPr lang="en-US" altLang="zh-CN" sz="1500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DFS</m:t>
                      </m:r>
                      <m:r>
                        <a:rPr lang="zh-CN" altLang="en-US" sz="1500" i="1" dirty="0" smtClean="0">
                          <a:solidFill>
                            <a:srgbClr val="0F172A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算法</m:t>
                      </m:r>
                    </m:oMath>
                  </m:oMathPara>
                </a14:m>
                <a:endParaRPr sz="1500" b="0" dirty="0">
                  <a:solidFill>
                    <a:srgbClr val="0F172A"/>
                  </a:solidFill>
                  <a:latin typeface="Aptos Mono"/>
                  <a:ea typeface="Aptos Mono"/>
                  <a:cs typeface="Aptos Mono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35F110E-87B2-4368-8134-ECF66D3ED0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00" y="2000250"/>
                <a:ext cx="9277350" cy="514350"/>
              </a:xfrm>
              <a:prstGeom prst="rect">
                <a:avLst/>
              </a:prstGeom>
              <a:blipFill>
                <a:blip r:embed="rId3"/>
                <a:stretch>
                  <a:fillRect b="-7143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FEA61F39-BE6D-40CC-85A5-C859F5965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66800" y="2933701"/>
            <a:ext cx="64516" cy="64016"/>
          </a:xfrm>
          <a:prstGeom prst="rect">
            <a:avLst/>
          </a:prstGeom>
          <a:solidFill>
            <a:srgbClr val="9BE5FE">
              <a:alpha val="13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6D7EA8-EEEE-400C-9C5E-46FC7E3F9241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9677400" cy="490789"/>
          </a:xfrm>
          <a:prstGeom prst="rect">
            <a:avLst/>
          </a:prstGeom>
          <a:solidFill>
            <a:srgbClr val="9BE5FE">
              <a:alpha val="13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SVD+Sinkhorn：用秩一无套利结构定义异常</a:t>
            </a:r>
            <a:r>
              <a:rPr lang="zh-CN" altLang="en-US" sz="16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，使用</a:t>
            </a:r>
            <a:r>
              <a:rPr lang="en-US" altLang="zh-CN" sz="16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SVD</a:t>
            </a:r>
            <a:r>
              <a:rPr lang="zh-CN" altLang="en-US" sz="16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解析套利因素的来源。</a:t>
            </a:r>
            <a:endParaRPr lang="en-US" sz="1600" b="0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  <a:p>
            <a:pPr algn="r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16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线性代数 </a:t>
            </a:r>
            <a:endParaRPr sz="1600" b="0" dirty="0">
              <a:solidFill>
                <a:schemeClr val="tx2">
                  <a:lumMod val="75000"/>
                  <a:lumOff val="25000"/>
                </a:schemeClr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B5B1D14-8AF5-4EA8-AA8C-0C971D490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66800" y="3486151"/>
            <a:ext cx="64516" cy="64016"/>
          </a:xfrm>
          <a:prstGeom prst="rect">
            <a:avLst/>
          </a:prstGeom>
          <a:solidFill>
            <a:srgbClr val="9BE5FE">
              <a:alpha val="13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020D34-3AC4-4394-B130-2F062A9AD069}"/>
              </a:ext>
            </a:extLst>
          </p:cNvPr>
          <p:cNvSpPr>
            <a:spLocks noGrp="1"/>
          </p:cNvSpPr>
          <p:nvPr/>
        </p:nvSpPr>
        <p:spPr>
          <a:xfrm>
            <a:off x="1257300" y="3409950"/>
            <a:ext cx="9677400" cy="490789"/>
          </a:xfrm>
          <a:prstGeom prst="rect">
            <a:avLst/>
          </a:prstGeom>
          <a:solidFill>
            <a:srgbClr val="9BE5FE">
              <a:alpha val="13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Lap </a:t>
            </a: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残差：用对数势能场定义套利来源</a:t>
            </a:r>
            <a:r>
              <a:rPr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E5B874-9EC7-4394-B126-2704D4588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66800" y="4038601"/>
            <a:ext cx="64516" cy="64016"/>
          </a:xfrm>
          <a:prstGeom prst="rect">
            <a:avLst/>
          </a:prstGeom>
          <a:solidFill>
            <a:srgbClr val="9BE5FE">
              <a:alpha val="13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2337DA-FDCC-44C7-85B0-59E51CFA88A2}"/>
              </a:ext>
            </a:extLst>
          </p:cNvPr>
          <p:cNvSpPr>
            <a:spLocks noGrp="1"/>
          </p:cNvSpPr>
          <p:nvPr/>
        </p:nvSpPr>
        <p:spPr>
          <a:xfrm>
            <a:off x="1257300" y="3962400"/>
            <a:ext cx="9677400" cy="490789"/>
          </a:xfrm>
          <a:prstGeom prst="rect">
            <a:avLst/>
          </a:prstGeom>
          <a:solidFill>
            <a:srgbClr val="9BE5FE">
              <a:alpha val="13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1600" b="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诱导子图：避免直接删边导致套利环断裂，用图论直观优化算法稳定性。</a:t>
            </a:r>
            <a:endParaRPr lang="en-US" altLang="zh-CN" sz="1600" b="0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  <a:p>
            <a:pPr algn="r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图论</a:t>
            </a:r>
            <a:endParaRPr sz="1600" b="0" dirty="0">
              <a:solidFill>
                <a:schemeClr val="tx2">
                  <a:lumMod val="75000"/>
                  <a:lumOff val="25000"/>
                </a:schemeClr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54B9A1-FFD5-44CD-8EFC-80DD9D2B8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66800" y="4591051"/>
            <a:ext cx="64516" cy="64016"/>
          </a:xfrm>
          <a:prstGeom prst="rect">
            <a:avLst/>
          </a:prstGeom>
          <a:solidFill>
            <a:srgbClr val="9BE5FE">
              <a:alpha val="13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590ED8-4A7C-4DC0-90AC-B25D556CBB0F}"/>
              </a:ext>
            </a:extLst>
          </p:cNvPr>
          <p:cNvSpPr>
            <a:spLocks noGrp="1"/>
          </p:cNvSpPr>
          <p:nvPr/>
        </p:nvSpPr>
        <p:spPr>
          <a:xfrm>
            <a:off x="1257300" y="4514850"/>
            <a:ext cx="9677400" cy="490789"/>
          </a:xfrm>
          <a:prstGeom prst="rect">
            <a:avLst/>
          </a:prstGeom>
          <a:solidFill>
            <a:srgbClr val="9BE5FE">
              <a:alpha val="13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理论基准：让大规模不可计算场景仍可评价</a:t>
            </a:r>
            <a:r>
              <a:rPr lang="zh-CN" altLang="en-US" sz="16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，利用噪声参数估计理论最优值作为</a:t>
            </a:r>
            <a:r>
              <a:rPr lang="en-US" altLang="zh-CN" sz="1600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baseline</a:t>
            </a:r>
            <a:endParaRPr lang="en-US" sz="1600" b="0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  <a:p>
            <a:pPr algn="r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概率论</a:t>
            </a:r>
            <a:endParaRPr sz="1600" b="0" dirty="0">
              <a:solidFill>
                <a:schemeClr val="tx2">
                  <a:lumMod val="75000"/>
                  <a:lumOff val="25000"/>
                </a:schemeClr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21984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791</Words>
  <Application>Microsoft Macintosh PowerPoint</Application>
  <DocSecurity>0</DocSecurity>
  <PresentationFormat>宽屏</PresentationFormat>
  <Paragraphs>149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Aptos Mono</vt:lpstr>
      <vt:lpstr>Calibri</vt:lpstr>
      <vt:lpstr>Cambria Math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汪思延</cp:lastModifiedBy>
  <cp:revision>7</cp:revision>
  <dcterms:created xsi:type="dcterms:W3CDTF">2026-06-10T15:07:35Z</dcterms:created>
  <dcterms:modified xsi:type="dcterms:W3CDTF">2026-06-10T23:43:52Z</dcterms:modified>
</cp:coreProperties>
</file>